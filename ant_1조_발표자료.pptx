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67" r:id="rId4"/>
    <p:sldId id="260" r:id="rId5"/>
    <p:sldId id="282" r:id="rId6"/>
    <p:sldId id="283" r:id="rId7"/>
    <p:sldId id="284" r:id="rId8"/>
    <p:sldId id="261" r:id="rId9"/>
    <p:sldId id="270" r:id="rId10"/>
    <p:sldId id="271" r:id="rId11"/>
    <p:sldId id="262" r:id="rId12"/>
    <p:sldId id="266" r:id="rId13"/>
    <p:sldId id="285" r:id="rId14"/>
    <p:sldId id="268" r:id="rId15"/>
    <p:sldId id="279" r:id="rId16"/>
    <p:sldId id="274" r:id="rId17"/>
    <p:sldId id="280" r:id="rId18"/>
    <p:sldId id="286" r:id="rId19"/>
    <p:sldId id="287" r:id="rId20"/>
    <p:sldId id="288" r:id="rId21"/>
    <p:sldId id="289" r:id="rId22"/>
    <p:sldId id="290" r:id="rId23"/>
    <p:sldId id="291" r:id="rId24"/>
    <p:sldId id="273" r:id="rId25"/>
    <p:sldId id="263" r:id="rId26"/>
    <p:sldId id="276" r:id="rId27"/>
    <p:sldId id="269" r:id="rId28"/>
    <p:sldId id="277" r:id="rId29"/>
    <p:sldId id="278" r:id="rId30"/>
    <p:sldId id="281" r:id="rId31"/>
    <p:sldId id="272" r:id="rId32"/>
    <p:sldId id="264" r:id="rId33"/>
    <p:sldId id="265" r:id="rId34"/>
    <p:sldId id="259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5GdbxsaFl02bTEFBl/9s84/Z/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02" autoAdjust="0"/>
    <p:restoredTop sz="89421" autoAdjust="0"/>
  </p:normalViewPr>
  <p:slideViewPr>
    <p:cSldViewPr snapToGrid="0">
      <p:cViewPr varScale="1">
        <p:scale>
          <a:sx n="76" d="100"/>
          <a:sy n="7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081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1709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-ignore write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W 0 0xAAAAAAAA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E 0 1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W 2 0xBBBBBBBB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W 4 0xCCCCCCCC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E 2 3</a:t>
            </a:r>
            <a:endParaRPr dirty="0"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84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-ignore erase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i="0" dirty="0">
              <a:effectLst/>
              <a:latin typeface="gg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E 1 2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W 1 0xAAAAAAAA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W 2 0xBBBBBBBB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E 3 1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dirty="0">
                <a:effectLst/>
                <a:latin typeface="gg sans"/>
              </a:rPr>
              <a:t>python ssd.py W 3 0xCCCCCCCC</a:t>
            </a:r>
            <a:endParaRPr dirty="0"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8769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inherit"/>
              </a:rPr>
              <a:t>merge erase,</a:t>
            </a:r>
          </a:p>
          <a:p>
            <a:r>
              <a:rPr lang="en-US" altLang="ko-KR" b="0" i="0" dirty="0">
                <a:effectLst/>
                <a:latin typeface="gg sans"/>
              </a:rPr>
              <a:t>python ssd.py F </a:t>
            </a:r>
          </a:p>
          <a:p>
            <a:r>
              <a:rPr lang="en-US" altLang="ko-KR" b="0" i="0" dirty="0">
                <a:effectLst/>
                <a:latin typeface="gg sans"/>
              </a:rPr>
              <a:t>python ssd.py E 0 3 </a:t>
            </a:r>
          </a:p>
          <a:p>
            <a:r>
              <a:rPr lang="en-US" altLang="ko-KR" b="0" i="0" dirty="0">
                <a:effectLst/>
                <a:latin typeface="gg sans"/>
              </a:rPr>
              <a:t>python ssd.py W 3 0xAAAAAAAA </a:t>
            </a:r>
          </a:p>
          <a:p>
            <a:r>
              <a:rPr lang="en-US" altLang="ko-KR" b="0" i="0" dirty="0">
                <a:effectLst/>
                <a:latin typeface="gg sans"/>
              </a:rPr>
              <a:t>python ssd.py E 4 8 </a:t>
            </a:r>
          </a:p>
          <a:p>
            <a:r>
              <a:rPr lang="en-US" altLang="ko-KR" b="0" i="0" dirty="0">
                <a:effectLst/>
                <a:latin typeface="gg sans"/>
              </a:rPr>
              <a:t>python ssd.py E 13 2 </a:t>
            </a:r>
          </a:p>
          <a:p>
            <a:r>
              <a:rPr lang="en-US" altLang="ko-KR" b="0" i="0" dirty="0">
                <a:effectLst/>
                <a:latin typeface="gg sans"/>
              </a:rPr>
              <a:t>python ssd.py E 15 1</a:t>
            </a:r>
            <a:endParaRPr dirty="0"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6875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8883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8198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38122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4576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626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</a:t>
            </a:r>
            <a:endParaRPr dirty="0"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003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7808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7823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5512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85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2267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6340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78914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1836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8232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283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4967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7921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0958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dirty="0"/>
              <a:t>시연</a:t>
            </a:r>
            <a:r>
              <a:rPr lang="en-US" altLang="ko-KR" dirty="0"/>
              <a:t> </a:t>
            </a:r>
            <a:r>
              <a:rPr lang="ko-KR" altLang="en-US" dirty="0"/>
              <a:t>순서</a:t>
            </a: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 실행</a:t>
            </a:r>
            <a:endParaRPr lang="en-US" altLang="ko-KR" dirty="0"/>
          </a:p>
          <a:p>
            <a:pPr marL="692150" marR="0" lvl="0" indent="-5143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  <a:tabLst/>
              <a:defRPr/>
            </a:pPr>
            <a:r>
              <a:rPr lang="en-US" altLang="ko-KR" dirty="0"/>
              <a:t>Runner script </a:t>
            </a:r>
            <a:r>
              <a:rPr lang="ko-KR" altLang="en-US" dirty="0"/>
              <a:t>실행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>
                <a:solidFill>
                  <a:srgbClr val="EBEBEB"/>
                </a:solidFill>
                <a:effectLst/>
              </a:rPr>
              <a:t>1_</a:t>
            </a:r>
            <a:br>
              <a:rPr lang="en-US" altLang="ko-KR" dirty="0">
                <a:solidFill>
                  <a:srgbClr val="EBEBEB"/>
                </a:solidFill>
                <a:effectLst/>
              </a:rPr>
            </a:br>
            <a:r>
              <a:rPr lang="en-US" altLang="ko-KR" dirty="0">
                <a:solidFill>
                  <a:srgbClr val="EBEBEB"/>
                </a:solidFill>
                <a:effectLst/>
              </a:rPr>
              <a:t>2_</a:t>
            </a:r>
            <a:br>
              <a:rPr lang="en-US" altLang="ko-KR" dirty="0">
                <a:solidFill>
                  <a:srgbClr val="EBEBEB"/>
                </a:solidFill>
                <a:effectLst/>
              </a:rPr>
            </a:br>
            <a:r>
              <a:rPr lang="en-US" altLang="ko-KR" dirty="0">
                <a:solidFill>
                  <a:srgbClr val="EBEBEB"/>
                </a:solidFill>
                <a:effectLst/>
              </a:rPr>
              <a:t>3_</a:t>
            </a:r>
            <a:br>
              <a:rPr lang="en-US" altLang="ko-KR" dirty="0">
                <a:solidFill>
                  <a:srgbClr val="EBEBEB"/>
                </a:solidFill>
                <a:effectLst/>
              </a:rPr>
            </a:br>
            <a:r>
              <a:rPr lang="en-US" altLang="ko-KR" dirty="0">
                <a:solidFill>
                  <a:srgbClr val="EBEBEB"/>
                </a:solidFill>
                <a:effectLst/>
              </a:rPr>
              <a:t>5_</a:t>
            </a:r>
            <a:br>
              <a:rPr lang="en-US" altLang="ko-KR" dirty="0">
                <a:solidFill>
                  <a:srgbClr val="EBEBEB"/>
                </a:solidFill>
                <a:effectLst/>
              </a:rPr>
            </a:br>
            <a:r>
              <a:rPr lang="en-US" altLang="ko-KR" dirty="0">
                <a:solidFill>
                  <a:srgbClr val="EBEBEB"/>
                </a:solidFill>
                <a:effectLst/>
              </a:rPr>
              <a:t>3_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ko-KR" dirty="0"/>
              <a:t>Buffer </a:t>
            </a:r>
            <a:r>
              <a:rPr lang="ko-KR" altLang="en-US" dirty="0"/>
              <a:t>케이스들 실행</a:t>
            </a: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 err="1"/>
              <a:t>merge_erase</a:t>
            </a: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1. 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50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55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60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70 5 (</a:t>
            </a:r>
            <a:r>
              <a:rPr lang="ko-KR" altLang="en-US" dirty="0"/>
              <a:t>순서가 연속적이지 않게 </a:t>
            </a:r>
            <a:r>
              <a:rPr lang="en-US" altLang="ko-KR" dirty="0"/>
              <a:t>)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2. 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65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75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80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85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90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95 5  (flush </a:t>
            </a:r>
            <a:r>
              <a:rPr lang="ko-KR" altLang="en-US" dirty="0"/>
              <a:t>되고 </a:t>
            </a:r>
            <a:r>
              <a:rPr lang="en-US" altLang="ko-KR" dirty="0"/>
              <a:t>E 95 5)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3. write ignore/erase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1 0x12341234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1 0xAAAAAAAA ( </a:t>
            </a:r>
            <a:r>
              <a:rPr lang="ko-KR" altLang="en-US" dirty="0"/>
              <a:t>덮어쓰기 </a:t>
            </a:r>
            <a:r>
              <a:rPr lang="en-US" altLang="ko-KR" dirty="0"/>
              <a:t>)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2 0xBBBBBBBB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E 0 5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4. flush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10 0x12341234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20 0x12341234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30 0x12341234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40 0x12341234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50 0x12341234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W 60 0x12341234 ( flush </a:t>
            </a:r>
            <a:r>
              <a:rPr lang="ko-KR" altLang="en-US" dirty="0"/>
              <a:t>후 </a:t>
            </a:r>
            <a:r>
              <a:rPr lang="en-US" altLang="ko-KR" dirty="0"/>
              <a:t>W)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71618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/>
          <p:nvPr/>
        </p:nvSpPr>
        <p:spPr>
          <a:xfrm>
            <a:off x="618827" y="321810"/>
            <a:ext cx="17942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your value </a:t>
            </a: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" name="Google Shape;15;p6"/>
          <p:cNvGrpSpPr/>
          <p:nvPr/>
        </p:nvGrpSpPr>
        <p:grpSpPr>
          <a:xfrm>
            <a:off x="1107692" y="1513269"/>
            <a:ext cx="6785846" cy="3239999"/>
            <a:chOff x="900000" y="1513268"/>
            <a:chExt cx="5513500" cy="3239999"/>
          </a:xfrm>
        </p:grpSpPr>
        <p:grpSp>
          <p:nvGrpSpPr>
            <p:cNvPr id="16" name="Google Shape;16;p6"/>
            <p:cNvGrpSpPr/>
            <p:nvPr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</p:grpSpPr>
          <p:sp>
            <p:nvSpPr>
              <p:cNvPr id="17" name="Google Shape;17;p6"/>
              <p:cNvSpPr/>
              <p:nvPr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" name="Google Shape;18;p6"/>
              <p:cNvSpPr/>
              <p:nvPr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9" name="Google Shape;19;p6"/>
            <p:cNvGrpSpPr/>
            <p:nvPr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</p:grpSpPr>
          <p:sp>
            <p:nvSpPr>
              <p:cNvPr id="20" name="Google Shape;20;p6"/>
              <p:cNvSpPr/>
              <p:nvPr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5AB4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1" name="Google Shape;21;p6"/>
              <p:cNvGrpSpPr/>
              <p:nvPr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</p:grpSpPr>
            <p:sp>
              <p:nvSpPr>
                <p:cNvPr id="22" name="Google Shape;22;p6"/>
                <p:cNvSpPr/>
                <p:nvPr/>
              </p:nvSpPr>
              <p:spPr>
                <a:xfrm rot="-5400000">
                  <a:off x="2430000" y="-16731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" name="Google Shape;23;p6"/>
                <p:cNvSpPr/>
                <p:nvPr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4" name="Google Shape;24;p6"/>
              <p:cNvSpPr/>
              <p:nvPr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5" name="Google Shape;25;p6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4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373750" y="327899"/>
            <a:ext cx="232230" cy="635235"/>
          </a:xfrm>
          <a:prstGeom prst="rect">
            <a:avLst/>
          </a:prstGeom>
          <a:solidFill>
            <a:srgbClr val="005A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0" name="Google Shape;40;p8"/>
          <p:cNvCxnSpPr/>
          <p:nvPr/>
        </p:nvCxnSpPr>
        <p:spPr>
          <a:xfrm>
            <a:off x="720725" y="960002"/>
            <a:ext cx="11471275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endParaRPr/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2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ANT_1</a:t>
            </a:r>
            <a:r>
              <a:rPr lang="ko-KR" altLang="en-US" dirty="0"/>
              <a:t>조</a:t>
            </a:r>
            <a:endParaRPr dirty="0"/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n-US" dirty="0"/>
              <a:t>CRA</a:t>
            </a:r>
            <a:r>
              <a:rPr lang="ko-KR" altLang="en-US" dirty="0"/>
              <a:t>과정 프로젝트</a:t>
            </a:r>
            <a:endParaRPr dirty="0"/>
          </a:p>
        </p:txBody>
      </p:sp>
      <p:sp>
        <p:nvSpPr>
          <p:cNvPr id="49" name="Google Shape;49;p1"/>
          <p:cNvSpPr txBox="1">
            <a:spLocks noGrp="1"/>
          </p:cNvSpPr>
          <p:nvPr>
            <p:ph type="body" idx="4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조원 소개 및 역할 </a:t>
            </a:r>
            <a:r>
              <a:rPr lang="en-US" altLang="ko-KR" dirty="0"/>
              <a:t>– ssd.py</a:t>
            </a:r>
            <a:endParaRPr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6F7CF2E5-2B15-499C-A6A8-F2FA23523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94348"/>
              </p:ext>
            </p:extLst>
          </p:nvPr>
        </p:nvGraphicFramePr>
        <p:xfrm>
          <a:off x="605980" y="1102935"/>
          <a:ext cx="11208470" cy="5367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647">
                  <a:extLst>
                    <a:ext uri="{9D8B030D-6E8A-4147-A177-3AD203B41FA5}">
                      <a16:colId xmlns:a16="http://schemas.microsoft.com/office/drawing/2014/main" val="1412256068"/>
                    </a:ext>
                  </a:extLst>
                </a:gridCol>
                <a:gridCol w="7627823">
                  <a:extLst>
                    <a:ext uri="{9D8B030D-6E8A-4147-A177-3AD203B41FA5}">
                      <a16:colId xmlns:a16="http://schemas.microsoft.com/office/drawing/2014/main" val="886562250"/>
                    </a:ext>
                  </a:extLst>
                </a:gridCol>
              </a:tblGrid>
              <a:tr h="61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역할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332628"/>
                  </a:ext>
                </a:extLst>
              </a:tr>
              <a:tr h="61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이재훈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400" b="1" dirty="0"/>
                        <a:t>1. ssd.py </a:t>
                      </a:r>
                      <a:r>
                        <a:rPr lang="ko-KR" altLang="en-US" sz="1400" b="1" dirty="0"/>
                        <a:t>로직 구현</a:t>
                      </a:r>
                      <a:endParaRPr lang="en-US" altLang="ko-KR" sz="14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Nand class </a:t>
                      </a:r>
                      <a:r>
                        <a:rPr lang="ko-KR" altLang="en-US" sz="1400" dirty="0"/>
                        <a:t>작성 </a:t>
                      </a:r>
                      <a:r>
                        <a:rPr lang="en-US" altLang="ko-KR" sz="1400" dirty="0"/>
                        <a:t>(Read/Write/Erase </a:t>
                      </a:r>
                      <a:r>
                        <a:rPr lang="ko-KR" altLang="en-US" sz="1400" dirty="0"/>
                        <a:t>작성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dirty="0" err="1"/>
                        <a:t>BufferDriver</a:t>
                      </a:r>
                      <a:r>
                        <a:rPr lang="en-US" altLang="ko-KR" sz="1400" dirty="0"/>
                        <a:t> class </a:t>
                      </a:r>
                      <a:r>
                        <a:rPr lang="ko-KR" altLang="en-US" sz="1400" dirty="0"/>
                        <a:t>작성 및 테스트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342900" indent="-342900" algn="l" latinLnBrk="1">
                        <a:buFontTx/>
                        <a:buChar char="-"/>
                      </a:pPr>
                      <a:endParaRPr lang="en-US" altLang="ko-KR" sz="1400" dirty="0"/>
                    </a:p>
                    <a:p>
                      <a:pPr algn="l" latinLnBrk="1"/>
                      <a:r>
                        <a:rPr lang="en-US" altLang="ko-KR" sz="1400" b="1" dirty="0"/>
                        <a:t>2. Command buffer </a:t>
                      </a:r>
                      <a:r>
                        <a:rPr lang="ko-KR" altLang="en-US" sz="1400" b="1" dirty="0"/>
                        <a:t>기본 동작 및 최적화 구현</a:t>
                      </a:r>
                      <a:endParaRPr lang="en-US" altLang="ko-KR" sz="14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기본 </a:t>
                      </a:r>
                      <a:r>
                        <a:rPr lang="en-US" altLang="ko-KR" sz="1400" dirty="0"/>
                        <a:t>buffer </a:t>
                      </a:r>
                      <a:r>
                        <a:rPr lang="ko-KR" altLang="en-US" sz="1400" dirty="0"/>
                        <a:t>동작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최적화 동작 구현 </a:t>
                      </a:r>
                      <a:r>
                        <a:rPr lang="en-US" altLang="ko-KR" sz="1400" dirty="0"/>
                        <a:t>(Ignore Command, Ignore Erase, Merge Erase </a:t>
                      </a:r>
                      <a:r>
                        <a:rPr lang="ko-KR" altLang="en-US" sz="1400" dirty="0"/>
                        <a:t>구현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69357"/>
                  </a:ext>
                </a:extLst>
              </a:tr>
              <a:tr h="61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정연호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400" b="1" dirty="0"/>
                        <a:t>1. ssd.py </a:t>
                      </a:r>
                      <a:r>
                        <a:rPr lang="ko-KR" altLang="en-US" sz="1400" b="1" dirty="0"/>
                        <a:t>테스트 작성</a:t>
                      </a:r>
                      <a:endParaRPr lang="en-US" altLang="ko-KR" sz="14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인터페이스 및 </a:t>
                      </a:r>
                      <a:r>
                        <a:rPr lang="en-US" altLang="ko-KR" sz="1400" dirty="0"/>
                        <a:t>Read/Write/Erase </a:t>
                      </a:r>
                      <a:r>
                        <a:rPr lang="ko-KR" altLang="en-US" sz="1400" dirty="0"/>
                        <a:t>테스트 코드 작성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b="1" dirty="0"/>
                        <a:t>2. Command buffer </a:t>
                      </a:r>
                      <a:r>
                        <a:rPr lang="ko-KR" altLang="en-US" sz="1400" b="1" dirty="0"/>
                        <a:t>테스트 작성</a:t>
                      </a:r>
                      <a:endParaRPr lang="en-US" altLang="ko-KR" sz="14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인터페이스 및 테스트 케이스 작성</a:t>
                      </a: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b="1" dirty="0"/>
                        <a:t>3. Command Buffer </a:t>
                      </a:r>
                      <a:r>
                        <a:rPr lang="ko-KR" altLang="en-US" sz="1400" b="1" dirty="0" err="1"/>
                        <a:t>리팩토링</a:t>
                      </a:r>
                      <a:endParaRPr lang="en-US" altLang="ko-KR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88367"/>
                  </a:ext>
                </a:extLst>
              </a:tr>
              <a:tr h="612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400" b="1" dirty="0"/>
                        <a:t>1. ssd.py </a:t>
                      </a:r>
                      <a:r>
                        <a:rPr lang="ko-KR" altLang="en-US" sz="1400" b="1" dirty="0"/>
                        <a:t>로직 구현</a:t>
                      </a:r>
                      <a:endParaRPr lang="en-US" altLang="ko-KR" sz="14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SSD Class</a:t>
                      </a:r>
                      <a:r>
                        <a:rPr lang="ko-KR" altLang="en-US" sz="1400" dirty="0"/>
                        <a:t> 작성</a:t>
                      </a:r>
                      <a:r>
                        <a:rPr lang="en-US" altLang="ko-KR" sz="1400" dirty="0"/>
                        <a:t> (</a:t>
                      </a:r>
                      <a:r>
                        <a:rPr lang="ko-KR" altLang="en-US" sz="1400" dirty="0"/>
                        <a:t>파일 기반 </a:t>
                      </a:r>
                      <a:r>
                        <a:rPr lang="en-US" altLang="ko-KR" sz="1400" dirty="0"/>
                        <a:t>Init </a:t>
                      </a:r>
                      <a:r>
                        <a:rPr lang="ko-KR" altLang="en-US" sz="1400" dirty="0"/>
                        <a:t>동작 구현</a:t>
                      </a:r>
                      <a:r>
                        <a:rPr lang="en-US" altLang="ko-KR" sz="1400" dirty="0"/>
                        <a:t>, Read/Write/Erase </a:t>
                      </a:r>
                      <a:r>
                        <a:rPr lang="ko-KR" altLang="en-US" sz="1400" dirty="0"/>
                        <a:t>작성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ko-KR" sz="1400" dirty="0"/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400" b="1" dirty="0"/>
                        <a:t>2. SSD </a:t>
                      </a:r>
                      <a:r>
                        <a:rPr lang="ko-KR" altLang="en-US" sz="1400" b="1" dirty="0"/>
                        <a:t>커맨드 </a:t>
                      </a:r>
                      <a:r>
                        <a:rPr lang="ko-KR" altLang="en-US" sz="1400" b="1" dirty="0" err="1"/>
                        <a:t>리팩토링</a:t>
                      </a:r>
                      <a:endParaRPr lang="en-US" altLang="ko-KR" sz="14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command pattern</a:t>
                      </a:r>
                      <a:r>
                        <a:rPr lang="ko-KR" altLang="en-US" sz="1400" dirty="0"/>
                        <a:t>을 이용하여 </a:t>
                      </a:r>
                      <a:r>
                        <a:rPr lang="ko-KR" altLang="en-US" sz="1400" dirty="0" err="1"/>
                        <a:t>리팩토링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FontTx/>
                        <a:buChar char="-"/>
                      </a:pPr>
                      <a:endParaRPr lang="en-US" altLang="ko-KR" sz="14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b="1" dirty="0"/>
                        <a:t>3. Command buffer </a:t>
                      </a:r>
                      <a:r>
                        <a:rPr lang="ko-KR" altLang="en-US" sz="1400" b="1" dirty="0"/>
                        <a:t>테스트 작성</a:t>
                      </a:r>
                      <a:endParaRPr lang="en-US" altLang="ko-KR" sz="14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- 138</a:t>
                      </a:r>
                      <a:r>
                        <a:rPr lang="ko-KR" altLang="en-US" sz="1400" dirty="0"/>
                        <a:t>개 테스트 케이스 통해서 </a:t>
                      </a:r>
                      <a:r>
                        <a:rPr lang="en-US" altLang="ko-KR" sz="1400" dirty="0"/>
                        <a:t>Command buffer </a:t>
                      </a:r>
                      <a:r>
                        <a:rPr lang="ko-KR" altLang="en-US" sz="1400" dirty="0"/>
                        <a:t>최적화 검증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620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조원 소개 및 역할 </a:t>
            </a:r>
            <a:r>
              <a:rPr lang="en-US" altLang="ko-KR" dirty="0"/>
              <a:t>– shell.py</a:t>
            </a:r>
            <a:endParaRPr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6F7CF2E5-2B15-499C-A6A8-F2FA23523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06679"/>
              </p:ext>
            </p:extLst>
          </p:nvPr>
        </p:nvGraphicFramePr>
        <p:xfrm>
          <a:off x="605980" y="1050310"/>
          <a:ext cx="11149245" cy="572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1727">
                  <a:extLst>
                    <a:ext uri="{9D8B030D-6E8A-4147-A177-3AD203B41FA5}">
                      <a16:colId xmlns:a16="http://schemas.microsoft.com/office/drawing/2014/main" val="1412256068"/>
                    </a:ext>
                  </a:extLst>
                </a:gridCol>
                <a:gridCol w="7587518">
                  <a:extLst>
                    <a:ext uri="{9D8B030D-6E8A-4147-A177-3AD203B41FA5}">
                      <a16:colId xmlns:a16="http://schemas.microsoft.com/office/drawing/2014/main" val="886562250"/>
                    </a:ext>
                  </a:extLst>
                </a:gridCol>
              </a:tblGrid>
              <a:tr h="664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역할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332628"/>
                  </a:ext>
                </a:extLst>
              </a:tr>
              <a:tr h="14206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박상혁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600" b="1" dirty="0"/>
                        <a:t>1. Shell command </a:t>
                      </a:r>
                      <a:r>
                        <a:rPr lang="ko-KR" altLang="en-US" sz="1600" b="1" dirty="0"/>
                        <a:t>구현 및 테스트 추가</a:t>
                      </a:r>
                      <a:endParaRPr lang="en-US" altLang="ko-KR" sz="1600" b="1" dirty="0"/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600" dirty="0"/>
                        <a:t>- </a:t>
                      </a:r>
                      <a:r>
                        <a:rPr lang="en-US" altLang="ko-KR" sz="1600" dirty="0" err="1"/>
                        <a:t>fullwrite</a:t>
                      </a:r>
                      <a:r>
                        <a:rPr lang="en-US" altLang="ko-KR" sz="1600" dirty="0"/>
                        <a:t>, </a:t>
                      </a:r>
                      <a:r>
                        <a:rPr lang="en-US" altLang="ko-KR" sz="1600" dirty="0" err="1"/>
                        <a:t>fullread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커맨드 구현</a:t>
                      </a:r>
                      <a:endParaRPr lang="en-US" altLang="ko-KR" sz="16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logger Class</a:t>
                      </a:r>
                      <a:r>
                        <a:rPr lang="ko-KR" altLang="en-US" sz="1600" dirty="0"/>
                        <a:t> 구현</a:t>
                      </a:r>
                      <a:endParaRPr lang="en-US" altLang="ko-KR" sz="16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Test script 3 </a:t>
                      </a:r>
                      <a:r>
                        <a:rPr lang="ko-KR" altLang="en-US" sz="1600" dirty="0"/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011411"/>
                  </a:ext>
                </a:extLst>
              </a:tr>
              <a:tr h="10902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황소진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600" b="1" dirty="0"/>
                        <a:t>1. Shell command </a:t>
                      </a:r>
                      <a:r>
                        <a:rPr lang="ko-KR" altLang="en-US" sz="1600" b="1" dirty="0"/>
                        <a:t>코드 구현 및 테스트 추가</a:t>
                      </a:r>
                      <a:endParaRPr lang="en-US" altLang="ko-KR" sz="16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Base </a:t>
                      </a:r>
                      <a:r>
                        <a:rPr lang="ko-KR" altLang="en-US" sz="1600" dirty="0"/>
                        <a:t>스켈레톤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구현</a:t>
                      </a:r>
                      <a:endParaRPr lang="en-US" altLang="ko-KR" sz="16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Erase, Erase Range, Help </a:t>
                      </a:r>
                      <a:r>
                        <a:rPr lang="ko-KR" altLang="en-US" sz="1600" dirty="0"/>
                        <a:t>커맨드 구현</a:t>
                      </a:r>
                      <a:endParaRPr lang="en-US" altLang="ko-KR" sz="16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Test script 2 </a:t>
                      </a:r>
                      <a:r>
                        <a:rPr lang="ko-KR" altLang="en-US" sz="1600" dirty="0"/>
                        <a:t>구현</a:t>
                      </a:r>
                      <a:endParaRPr lang="en-US" altLang="ko-KR" sz="1600" dirty="0"/>
                    </a:p>
                    <a:p>
                      <a:pPr marL="285750" indent="-285750" algn="l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b="1" dirty="0"/>
                        <a:t>2. </a:t>
                      </a:r>
                      <a:r>
                        <a:rPr lang="ko-KR" altLang="en-US" sz="1600" b="1" dirty="0"/>
                        <a:t>코드 정리 및 </a:t>
                      </a:r>
                      <a:r>
                        <a:rPr lang="ko-KR" altLang="en-US" sz="1600" b="1" dirty="0" err="1"/>
                        <a:t>리팩토링</a:t>
                      </a:r>
                      <a:endParaRPr lang="en-US" altLang="ko-KR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764428"/>
                  </a:ext>
                </a:extLst>
              </a:tr>
              <a:tr h="20813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박중규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600" b="1" dirty="0"/>
                        <a:t>1. Shell command </a:t>
                      </a:r>
                      <a:r>
                        <a:rPr lang="ko-KR" altLang="en-US" sz="1600" b="1" dirty="0"/>
                        <a:t>구현 및 테스트 추가 </a:t>
                      </a:r>
                      <a:endParaRPr lang="en-US" altLang="ko-KR" sz="16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Read, Write, Flush </a:t>
                      </a:r>
                      <a:r>
                        <a:rPr lang="ko-KR" altLang="en-US" sz="1600" dirty="0"/>
                        <a:t>커맨드 구현</a:t>
                      </a:r>
                      <a:endParaRPr lang="en-US" altLang="ko-KR" sz="16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Test script 1,4 </a:t>
                      </a:r>
                      <a:r>
                        <a:rPr lang="ko-KR" altLang="en-US" sz="1600" dirty="0"/>
                        <a:t>구현</a:t>
                      </a:r>
                      <a:endParaRPr lang="en-US" altLang="ko-KR" sz="1600" dirty="0"/>
                    </a:p>
                    <a:p>
                      <a:pPr marL="342900" indent="-342900" algn="l" latinLnBrk="1">
                        <a:buFontTx/>
                        <a:buChar char="-"/>
                      </a:pPr>
                      <a:endParaRPr lang="en-US" altLang="ko-KR" sz="1600" dirty="0"/>
                    </a:p>
                    <a:p>
                      <a:pPr algn="l" latinLnBrk="1"/>
                      <a:r>
                        <a:rPr lang="en-US" altLang="ko-KR" sz="1600" b="1" dirty="0"/>
                        <a:t>2. Runner Class </a:t>
                      </a:r>
                      <a:r>
                        <a:rPr lang="ko-KR" altLang="en-US" sz="1600" b="1" dirty="0"/>
                        <a:t>작성</a:t>
                      </a:r>
                      <a:endParaRPr lang="en-US" altLang="ko-KR" sz="1600" b="1" dirty="0"/>
                    </a:p>
                    <a:p>
                      <a:pPr algn="l" latinLnBrk="1"/>
                      <a:endParaRPr lang="en-US" altLang="ko-KR" sz="1600" dirty="0"/>
                    </a:p>
                    <a:p>
                      <a:pPr algn="l" latinLnBrk="1"/>
                      <a:r>
                        <a:rPr lang="en-US" altLang="ko-KR" sz="1600" b="1" dirty="0"/>
                        <a:t>3. Shell </a:t>
                      </a:r>
                      <a:r>
                        <a:rPr lang="ko-KR" altLang="en-US" sz="1600" b="1" dirty="0"/>
                        <a:t>커맨드 </a:t>
                      </a:r>
                      <a:r>
                        <a:rPr lang="ko-KR" altLang="en-US" sz="1600" b="1" dirty="0" err="1"/>
                        <a:t>리팩토링</a:t>
                      </a:r>
                      <a:endParaRPr lang="en-US" altLang="ko-KR" sz="1600" b="1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600" dirty="0"/>
                        <a:t>- Command Pattern </a:t>
                      </a:r>
                      <a:r>
                        <a:rPr lang="ko-KR" altLang="en-US" sz="1600" dirty="0"/>
                        <a:t>사용</a:t>
                      </a:r>
                      <a:endParaRPr lang="en-US" altLang="ko-K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838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65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구현 소개 </a:t>
            </a:r>
            <a:r>
              <a:rPr lang="en-US" altLang="ko-KR" dirty="0"/>
              <a:t>– ssd.py (1)</a:t>
            </a:r>
            <a:endParaRPr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B6AE2FC-3061-42C2-AEAB-032688C02304}"/>
              </a:ext>
            </a:extLst>
          </p:cNvPr>
          <p:cNvGrpSpPr/>
          <p:nvPr/>
        </p:nvGrpSpPr>
        <p:grpSpPr>
          <a:xfrm>
            <a:off x="196906" y="1085355"/>
            <a:ext cx="10051418" cy="5654676"/>
            <a:chOff x="605980" y="1145513"/>
            <a:chExt cx="10051418" cy="565467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ACF9A43-3702-4861-BEE8-3184CE805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980" y="1233523"/>
              <a:ext cx="9981048" cy="556666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BB40DE7-FA72-420A-8E33-D4D91B6A4A76}"/>
                </a:ext>
              </a:extLst>
            </p:cNvPr>
            <p:cNvSpPr/>
            <p:nvPr/>
          </p:nvSpPr>
          <p:spPr>
            <a:xfrm>
              <a:off x="605980" y="1145513"/>
              <a:ext cx="7663813" cy="29349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baseline="-250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0F439AB-978C-423A-95AA-4CC583D474FF}"/>
                </a:ext>
              </a:extLst>
            </p:cNvPr>
            <p:cNvSpPr/>
            <p:nvPr/>
          </p:nvSpPr>
          <p:spPr>
            <a:xfrm>
              <a:off x="3481515" y="4080417"/>
              <a:ext cx="7175883" cy="27197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baseline="-25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AA51138-FFC2-4053-9ECA-5AB2EDD1474A}"/>
              </a:ext>
            </a:extLst>
          </p:cNvPr>
          <p:cNvSpPr txBox="1"/>
          <p:nvPr/>
        </p:nvSpPr>
        <p:spPr>
          <a:xfrm>
            <a:off x="8559368" y="1212828"/>
            <a:ext cx="3237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1. SSD Commands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커맨드 처리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/>
              <a:t>2. Nand Class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Nand </a:t>
            </a:r>
            <a:r>
              <a:rPr lang="ko-KR" altLang="en-US" sz="2000" dirty="0"/>
              <a:t>동작 관리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/>
              <a:t>3. Command Buffer</a:t>
            </a:r>
          </a:p>
          <a:p>
            <a:r>
              <a:rPr lang="en-US" altLang="ko-KR" sz="2000" dirty="0"/>
              <a:t>-    </a:t>
            </a:r>
            <a:r>
              <a:rPr lang="ko-KR" altLang="en-US" sz="2000" dirty="0"/>
              <a:t>버퍼 동작 관리</a:t>
            </a:r>
          </a:p>
        </p:txBody>
      </p:sp>
    </p:spTree>
    <p:extLst>
      <p:ext uri="{BB962C8B-B14F-4D97-AF65-F5344CB8AC3E}">
        <p14:creationId xmlns:p14="http://schemas.microsoft.com/office/powerpoint/2010/main" val="231805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79" y="310143"/>
            <a:ext cx="11361607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구현 소개 </a:t>
            </a:r>
            <a:r>
              <a:rPr lang="en-US" altLang="ko-KR" dirty="0"/>
              <a:t>- </a:t>
            </a:r>
            <a:r>
              <a:rPr lang="en-US" dirty="0"/>
              <a:t>Command Buffer Algorithm (1)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140207"/>
            <a:ext cx="10515600" cy="530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1. Ignore Write</a:t>
            </a:r>
            <a:endParaRPr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7206B913-B6A2-400E-BD56-5D2ADFBA4989}"/>
              </a:ext>
            </a:extLst>
          </p:cNvPr>
          <p:cNvGraphicFramePr>
            <a:graphicFrameLocks noGrp="1"/>
          </p:cNvGraphicFramePr>
          <p:nvPr/>
        </p:nvGraphicFramePr>
        <p:xfrm>
          <a:off x="3173599" y="1828466"/>
          <a:ext cx="5622985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290542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W_0_0xA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W_2_0xB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W_4_0xC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E_2_3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6BC37347-8A7C-4FE3-8ED4-9F9DB304BC2E}"/>
              </a:ext>
            </a:extLst>
          </p:cNvPr>
          <p:cNvGraphicFramePr>
            <a:graphicFrameLocks noGrp="1"/>
          </p:cNvGraphicFramePr>
          <p:nvPr/>
        </p:nvGraphicFramePr>
        <p:xfrm>
          <a:off x="3173599" y="3210778"/>
          <a:ext cx="5622985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290542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W_0_0xA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W_2_0xB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W_4_0xC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E_2_3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sp>
        <p:nvSpPr>
          <p:cNvPr id="4" name="화살표: 아래로 구부러짐 3">
            <a:extLst>
              <a:ext uri="{FF2B5EF4-FFF2-40B4-BE49-F238E27FC236}">
                <a16:creationId xmlns:a16="http://schemas.microsoft.com/office/drawing/2014/main" id="{371920A0-D027-4C98-9B71-9CDE46878B83}"/>
              </a:ext>
            </a:extLst>
          </p:cNvPr>
          <p:cNvSpPr/>
          <p:nvPr/>
        </p:nvSpPr>
        <p:spPr>
          <a:xfrm>
            <a:off x="5922629" y="2676088"/>
            <a:ext cx="2533476" cy="431975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2EB00376-13B8-491C-913D-0282FC1D475B}"/>
              </a:ext>
            </a:extLst>
          </p:cNvPr>
          <p:cNvGraphicFramePr>
            <a:graphicFrameLocks noGrp="1"/>
          </p:cNvGraphicFramePr>
          <p:nvPr/>
        </p:nvGraphicFramePr>
        <p:xfrm>
          <a:off x="3173599" y="4549045"/>
          <a:ext cx="3373791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W_0_0xA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E_2_3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sp>
        <p:nvSpPr>
          <p:cNvPr id="9" name="화살표: 아래로 구부러짐 8">
            <a:extLst>
              <a:ext uri="{FF2B5EF4-FFF2-40B4-BE49-F238E27FC236}">
                <a16:creationId xmlns:a16="http://schemas.microsoft.com/office/drawing/2014/main" id="{B2CF415B-CF00-4329-9A9F-2592956133D5}"/>
              </a:ext>
            </a:extLst>
          </p:cNvPr>
          <p:cNvSpPr/>
          <p:nvPr/>
        </p:nvSpPr>
        <p:spPr>
          <a:xfrm>
            <a:off x="3675778" y="4118995"/>
            <a:ext cx="1342238" cy="304326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아래로 구부러짐 9">
            <a:extLst>
              <a:ext uri="{FF2B5EF4-FFF2-40B4-BE49-F238E27FC236}">
                <a16:creationId xmlns:a16="http://schemas.microsoft.com/office/drawing/2014/main" id="{EBD8E0FF-2C27-413C-A10F-A5DB39C24EDB}"/>
              </a:ext>
            </a:extLst>
          </p:cNvPr>
          <p:cNvSpPr/>
          <p:nvPr/>
        </p:nvSpPr>
        <p:spPr>
          <a:xfrm>
            <a:off x="7131596" y="2837406"/>
            <a:ext cx="1080782" cy="270657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E0527C1-E8E7-4580-A6DB-A4C20F6A43C6}"/>
              </a:ext>
            </a:extLst>
          </p:cNvPr>
          <p:cNvSpPr/>
          <p:nvPr/>
        </p:nvSpPr>
        <p:spPr>
          <a:xfrm>
            <a:off x="5276675" y="2522817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75DDF853-1CDD-466C-8142-88F8BB9A6F93}"/>
              </a:ext>
            </a:extLst>
          </p:cNvPr>
          <p:cNvSpPr/>
          <p:nvPr/>
        </p:nvSpPr>
        <p:spPr>
          <a:xfrm>
            <a:off x="5276675" y="3863131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7DE44FDF-06AD-4A7E-A04E-5D73753C2168}"/>
              </a:ext>
            </a:extLst>
          </p:cNvPr>
          <p:cNvGraphicFramePr>
            <a:graphicFrameLocks noGrp="1"/>
          </p:cNvGraphicFramePr>
          <p:nvPr/>
        </p:nvGraphicFramePr>
        <p:xfrm>
          <a:off x="3173599" y="5811811"/>
          <a:ext cx="2249194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E_2_3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F6FEB296-235E-4A2D-9DE7-CFBC14F7AB8C}"/>
              </a:ext>
            </a:extLst>
          </p:cNvPr>
          <p:cNvSpPr/>
          <p:nvPr/>
        </p:nvSpPr>
        <p:spPr>
          <a:xfrm>
            <a:off x="5276675" y="5274912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07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79" y="310143"/>
            <a:ext cx="11261123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구현 소개 </a:t>
            </a:r>
            <a:r>
              <a:rPr lang="en-US" altLang="ko-KR" dirty="0"/>
              <a:t>- Command Buffer Algorithm (2)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140207"/>
            <a:ext cx="10515600" cy="530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2. Ignore Erase</a:t>
            </a:r>
            <a:endParaRPr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7206B913-B6A2-400E-BD56-5D2ADFBA4989}"/>
              </a:ext>
            </a:extLst>
          </p:cNvPr>
          <p:cNvGraphicFramePr>
            <a:graphicFrameLocks noGrp="1"/>
          </p:cNvGraphicFramePr>
          <p:nvPr/>
        </p:nvGraphicFramePr>
        <p:xfrm>
          <a:off x="3173599" y="1828466"/>
          <a:ext cx="5622985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290542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W_1_0xA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W_2_0xB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E_3_1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sp>
        <p:nvSpPr>
          <p:cNvPr id="4" name="화살표: 아래로 구부러짐 3">
            <a:extLst>
              <a:ext uri="{FF2B5EF4-FFF2-40B4-BE49-F238E27FC236}">
                <a16:creationId xmlns:a16="http://schemas.microsoft.com/office/drawing/2014/main" id="{371920A0-D027-4C98-9B71-9CDE46878B83}"/>
              </a:ext>
            </a:extLst>
          </p:cNvPr>
          <p:cNvSpPr/>
          <p:nvPr/>
        </p:nvSpPr>
        <p:spPr>
          <a:xfrm>
            <a:off x="3632207" y="2796105"/>
            <a:ext cx="1429380" cy="256895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아래로 구부러짐 9">
            <a:extLst>
              <a:ext uri="{FF2B5EF4-FFF2-40B4-BE49-F238E27FC236}">
                <a16:creationId xmlns:a16="http://schemas.microsoft.com/office/drawing/2014/main" id="{EBD8E0FF-2C27-413C-A10F-A5DB39C24EDB}"/>
              </a:ext>
            </a:extLst>
          </p:cNvPr>
          <p:cNvSpPr/>
          <p:nvPr/>
        </p:nvSpPr>
        <p:spPr>
          <a:xfrm>
            <a:off x="3515941" y="2636883"/>
            <a:ext cx="2398298" cy="416117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E0527C1-E8E7-4580-A6DB-A4C20F6A43C6}"/>
              </a:ext>
            </a:extLst>
          </p:cNvPr>
          <p:cNvSpPr/>
          <p:nvPr/>
        </p:nvSpPr>
        <p:spPr>
          <a:xfrm>
            <a:off x="6069216" y="2540241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75DDF853-1CDD-466C-8142-88F8BB9A6F93}"/>
              </a:ext>
            </a:extLst>
          </p:cNvPr>
          <p:cNvSpPr/>
          <p:nvPr/>
        </p:nvSpPr>
        <p:spPr>
          <a:xfrm>
            <a:off x="5385606" y="3872410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F6FEB296-235E-4A2D-9DE7-CFBC14F7AB8C}"/>
              </a:ext>
            </a:extLst>
          </p:cNvPr>
          <p:cNvSpPr/>
          <p:nvPr/>
        </p:nvSpPr>
        <p:spPr>
          <a:xfrm>
            <a:off x="5385606" y="5101168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2">
            <a:extLst>
              <a:ext uri="{FF2B5EF4-FFF2-40B4-BE49-F238E27FC236}">
                <a16:creationId xmlns:a16="http://schemas.microsoft.com/office/drawing/2014/main" id="{4FFA3A2B-36C7-466B-81BC-05D6B6E602C9}"/>
              </a:ext>
            </a:extLst>
          </p:cNvPr>
          <p:cNvGraphicFramePr>
            <a:graphicFrameLocks noGrp="1"/>
          </p:cNvGraphicFramePr>
          <p:nvPr/>
        </p:nvGraphicFramePr>
        <p:xfrm>
          <a:off x="3166608" y="3180493"/>
          <a:ext cx="5622985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290542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W_1_0xA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W_2_0xB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E_3_1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graphicFrame>
        <p:nvGraphicFramePr>
          <p:cNvPr id="17" name="표 2">
            <a:extLst>
              <a:ext uri="{FF2B5EF4-FFF2-40B4-BE49-F238E27FC236}">
                <a16:creationId xmlns:a16="http://schemas.microsoft.com/office/drawing/2014/main" id="{D483128B-D500-4C9A-BDD0-A5C6EACC319D}"/>
              </a:ext>
            </a:extLst>
          </p:cNvPr>
          <p:cNvGraphicFramePr>
            <a:graphicFrameLocks noGrp="1"/>
          </p:cNvGraphicFramePr>
          <p:nvPr/>
        </p:nvGraphicFramePr>
        <p:xfrm>
          <a:off x="3166607" y="4497167"/>
          <a:ext cx="4498388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290542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W_1_0xA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W_2_0xB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E_3_1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sp>
        <p:nvSpPr>
          <p:cNvPr id="18" name="화살표: 아래로 구부러짐 17">
            <a:extLst>
              <a:ext uri="{FF2B5EF4-FFF2-40B4-BE49-F238E27FC236}">
                <a16:creationId xmlns:a16="http://schemas.microsoft.com/office/drawing/2014/main" id="{BA8186DE-1F24-4763-8A3C-407975069B3F}"/>
              </a:ext>
            </a:extLst>
          </p:cNvPr>
          <p:cNvSpPr/>
          <p:nvPr/>
        </p:nvSpPr>
        <p:spPr>
          <a:xfrm>
            <a:off x="5985091" y="4093435"/>
            <a:ext cx="1342238" cy="304326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67C45E10-7BE7-4080-B545-C4D03E7F2022}"/>
              </a:ext>
            </a:extLst>
          </p:cNvPr>
          <p:cNvGraphicFramePr>
            <a:graphicFrameLocks noGrp="1"/>
          </p:cNvGraphicFramePr>
          <p:nvPr/>
        </p:nvGraphicFramePr>
        <p:xfrm>
          <a:off x="3173599" y="5632731"/>
          <a:ext cx="3373791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290542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W_1_0xA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W_2_0xB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50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502284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구현 소개 </a:t>
            </a:r>
            <a:r>
              <a:rPr lang="en-US" altLang="ko-KR" dirty="0"/>
              <a:t>- Command Buffer Algorithm (3)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140207"/>
            <a:ext cx="10515600" cy="530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3. Merge Erase</a:t>
            </a:r>
            <a:endParaRPr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7206B913-B6A2-400E-BD56-5D2ADFBA4989}"/>
              </a:ext>
            </a:extLst>
          </p:cNvPr>
          <p:cNvGraphicFramePr>
            <a:graphicFrameLocks noGrp="1"/>
          </p:cNvGraphicFramePr>
          <p:nvPr/>
        </p:nvGraphicFramePr>
        <p:xfrm>
          <a:off x="2854817" y="1828466"/>
          <a:ext cx="5622985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795707558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29054298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E_4_8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E_13_2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E_15_1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2EB00376-13B8-491C-913D-0282FC1D4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91366"/>
              </p:ext>
            </p:extLst>
          </p:nvPr>
        </p:nvGraphicFramePr>
        <p:xfrm>
          <a:off x="3220209" y="3635985"/>
          <a:ext cx="2249194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E_0_12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E_13_3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graphicFrame>
        <p:nvGraphicFramePr>
          <p:cNvPr id="13" name="표 2">
            <a:extLst>
              <a:ext uri="{FF2B5EF4-FFF2-40B4-BE49-F238E27FC236}">
                <a16:creationId xmlns:a16="http://schemas.microsoft.com/office/drawing/2014/main" id="{7DE44FDF-06AD-4A7E-A04E-5D73753C2168}"/>
              </a:ext>
            </a:extLst>
          </p:cNvPr>
          <p:cNvGraphicFramePr>
            <a:graphicFrameLocks noGrp="1"/>
          </p:cNvGraphicFramePr>
          <p:nvPr/>
        </p:nvGraphicFramePr>
        <p:xfrm>
          <a:off x="6675752" y="3635209"/>
          <a:ext cx="1124597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F6FEB296-235E-4A2D-9DE7-CFBC14F7AB8C}"/>
              </a:ext>
            </a:extLst>
          </p:cNvPr>
          <p:cNvSpPr/>
          <p:nvPr/>
        </p:nvSpPr>
        <p:spPr>
          <a:xfrm>
            <a:off x="5359944" y="4313311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57E4F601-C5D9-4C10-9325-26AC96B78799}"/>
              </a:ext>
            </a:extLst>
          </p:cNvPr>
          <p:cNvGraphicFramePr>
            <a:graphicFrameLocks noGrp="1"/>
          </p:cNvGraphicFramePr>
          <p:nvPr/>
        </p:nvGraphicFramePr>
        <p:xfrm>
          <a:off x="2640578" y="2831278"/>
          <a:ext cx="6135824" cy="598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89">
                  <a:extLst>
                    <a:ext uri="{9D8B030D-6E8A-4147-A177-3AD203B41FA5}">
                      <a16:colId xmlns:a16="http://schemas.microsoft.com/office/drawing/2014/main" val="4090507411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2984397457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3285251535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3817938039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110232366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3117164641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411589520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2924965035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1291074922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3082847250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2361107711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2939700671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117429662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2057967520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3003516063"/>
                    </a:ext>
                  </a:extLst>
                </a:gridCol>
                <a:gridCol w="383489">
                  <a:extLst>
                    <a:ext uri="{9D8B030D-6E8A-4147-A177-3AD203B41FA5}">
                      <a16:colId xmlns:a16="http://schemas.microsoft.com/office/drawing/2014/main" val="2780646378"/>
                    </a:ext>
                  </a:extLst>
                </a:gridCol>
              </a:tblGrid>
              <a:tr h="256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27454"/>
                  </a:ext>
                </a:extLst>
              </a:tr>
              <a:tr h="341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365202"/>
                  </a:ext>
                </a:extLst>
              </a:tr>
            </a:tbl>
          </a:graphicData>
        </a:graphic>
      </p:graphicFrame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E09C0403-E3EB-4C9B-9983-929839B6EDE0}"/>
              </a:ext>
            </a:extLst>
          </p:cNvPr>
          <p:cNvSpPr/>
          <p:nvPr/>
        </p:nvSpPr>
        <p:spPr>
          <a:xfrm>
            <a:off x="5310246" y="2387402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75A09-EFE2-48AE-92AD-808D2031AE74}"/>
              </a:ext>
            </a:extLst>
          </p:cNvPr>
          <p:cNvSpPr txBox="1"/>
          <p:nvPr/>
        </p:nvSpPr>
        <p:spPr>
          <a:xfrm>
            <a:off x="3837322" y="4047081"/>
            <a:ext cx="1778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Erase Buffer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EEB61-95C7-479A-AF60-831234209E07}"/>
              </a:ext>
            </a:extLst>
          </p:cNvPr>
          <p:cNvSpPr txBox="1"/>
          <p:nvPr/>
        </p:nvSpPr>
        <p:spPr>
          <a:xfrm>
            <a:off x="6756556" y="4004541"/>
            <a:ext cx="112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Write Buffer</a:t>
            </a:r>
            <a:endParaRPr lang="ko-KR" altLang="en-US" sz="1200" dirty="0"/>
          </a:p>
        </p:txBody>
      </p:sp>
      <p:graphicFrame>
        <p:nvGraphicFramePr>
          <p:cNvPr id="20" name="표 2">
            <a:extLst>
              <a:ext uri="{FF2B5EF4-FFF2-40B4-BE49-F238E27FC236}">
                <a16:creationId xmlns:a16="http://schemas.microsoft.com/office/drawing/2014/main" id="{E65C6539-3509-44AA-AECF-6CE331F697EC}"/>
              </a:ext>
            </a:extLst>
          </p:cNvPr>
          <p:cNvGraphicFramePr>
            <a:graphicFrameLocks noGrp="1"/>
          </p:cNvGraphicFramePr>
          <p:nvPr/>
        </p:nvGraphicFramePr>
        <p:xfrm>
          <a:off x="7002922" y="4730760"/>
          <a:ext cx="1124597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4336122A-90E1-4C30-85A8-754B1D433825}"/>
              </a:ext>
            </a:extLst>
          </p:cNvPr>
          <p:cNvSpPr/>
          <p:nvPr/>
        </p:nvSpPr>
        <p:spPr>
          <a:xfrm>
            <a:off x="5359944" y="5410566"/>
            <a:ext cx="478174" cy="255864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17E1BA-3D83-456D-A79D-333C0C3F4F71}"/>
              </a:ext>
            </a:extLst>
          </p:cNvPr>
          <p:cNvSpPr txBox="1"/>
          <p:nvPr/>
        </p:nvSpPr>
        <p:spPr>
          <a:xfrm>
            <a:off x="3837322" y="5186281"/>
            <a:ext cx="1778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Erase Buffer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6A162E-84A0-4A4E-9B8C-9BDE1D97DF73}"/>
              </a:ext>
            </a:extLst>
          </p:cNvPr>
          <p:cNvSpPr txBox="1"/>
          <p:nvPr/>
        </p:nvSpPr>
        <p:spPr>
          <a:xfrm>
            <a:off x="7050171" y="5143741"/>
            <a:ext cx="1124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Write Buffer</a:t>
            </a:r>
            <a:endParaRPr lang="ko-KR" altLang="en-US" sz="1200" dirty="0"/>
          </a:p>
        </p:txBody>
      </p:sp>
      <p:graphicFrame>
        <p:nvGraphicFramePr>
          <p:cNvPr id="24" name="표 2">
            <a:extLst>
              <a:ext uri="{FF2B5EF4-FFF2-40B4-BE49-F238E27FC236}">
                <a16:creationId xmlns:a16="http://schemas.microsoft.com/office/drawing/2014/main" id="{DE8D1D97-FAAE-4416-B44F-534598E25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4550"/>
              </p:ext>
            </p:extLst>
          </p:nvPr>
        </p:nvGraphicFramePr>
        <p:xfrm>
          <a:off x="3211820" y="4730760"/>
          <a:ext cx="3373791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2231142697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11848434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67248611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B3E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E_10_2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B3E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E_13_3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4837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98E53A7-AD81-454E-B19B-76B42351F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421042"/>
              </p:ext>
            </p:extLst>
          </p:nvPr>
        </p:nvGraphicFramePr>
        <p:xfrm>
          <a:off x="3539226" y="5869921"/>
          <a:ext cx="4498388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597">
                  <a:extLst>
                    <a:ext uri="{9D8B030D-6E8A-4147-A177-3AD203B41FA5}">
                      <a16:colId xmlns:a16="http://schemas.microsoft.com/office/drawing/2014/main" val="143948793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110764565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3106801420"/>
                    </a:ext>
                  </a:extLst>
                </a:gridCol>
                <a:gridCol w="1124597">
                  <a:extLst>
                    <a:ext uri="{9D8B030D-6E8A-4147-A177-3AD203B41FA5}">
                      <a16:colId xmlns:a16="http://schemas.microsoft.com/office/drawing/2014/main" val="212820510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E_0_10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E_10_2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E_13_3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W_3_0xA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66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92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288924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TDD </a:t>
            </a:r>
            <a:r>
              <a:rPr lang="ko-KR" altLang="en-US" dirty="0"/>
              <a:t>활용 예시 </a:t>
            </a:r>
            <a:r>
              <a:rPr lang="en-US" altLang="ko-KR" dirty="0"/>
              <a:t>– ssd.py (1)</a:t>
            </a:r>
            <a:r>
              <a:rPr lang="ko-KR" altLang="en-US" dirty="0"/>
              <a:t> 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797143"/>
            <a:ext cx="10515600" cy="329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ko-KR" altLang="en-US" dirty="0"/>
              <a:t>테스트 먼저 작성 후 </a:t>
            </a:r>
            <a:r>
              <a:rPr lang="en-US" altLang="ko-KR" dirty="0"/>
              <a:t>PR</a:t>
            </a:r>
            <a:r>
              <a:rPr lang="ko-KR" altLang="en-US" dirty="0"/>
              <a:t>을 올린 후 </a:t>
            </a:r>
            <a:r>
              <a:rPr lang="en-US" altLang="ko-KR" dirty="0"/>
              <a:t>(</a:t>
            </a:r>
            <a:r>
              <a:rPr lang="ko-KR" altLang="en-US" dirty="0" err="1"/>
              <a:t>정연호님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ko-KR" altLang="en-US" dirty="0"/>
              <a:t>해당 테스트를 통과하는 코드를 작성 </a:t>
            </a:r>
            <a:r>
              <a:rPr lang="en-US" altLang="ko-KR" dirty="0"/>
              <a:t>(</a:t>
            </a:r>
            <a:r>
              <a:rPr lang="ko-KR" altLang="en-US" dirty="0"/>
              <a:t>이재훈</a:t>
            </a:r>
            <a:r>
              <a:rPr lang="en-US" altLang="ko-KR" dirty="0"/>
              <a:t>, </a:t>
            </a:r>
            <a:r>
              <a:rPr lang="ko-KR" altLang="en-US" dirty="0"/>
              <a:t>이지수님</a:t>
            </a:r>
            <a:r>
              <a:rPr lang="en-US" altLang="ko-KR" dirty="0"/>
              <a:t>)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lang="en-US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lang="en-US" dirty="0"/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033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288924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TDD </a:t>
            </a:r>
            <a:r>
              <a:rPr lang="ko-KR" altLang="en-US" dirty="0"/>
              <a:t>활용 예시 </a:t>
            </a:r>
            <a:r>
              <a:rPr lang="en-US" altLang="ko-KR" dirty="0"/>
              <a:t>– ssd.py (2)</a:t>
            </a:r>
            <a:r>
              <a:rPr lang="ko-KR" altLang="en-US" dirty="0"/>
              <a:t> 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06FE9D-EF4F-43FB-BCFE-9312D6B54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429" y="1025420"/>
            <a:ext cx="6754701" cy="5438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D1D926-6D15-492A-96FF-E16F467D99D1}"/>
              </a:ext>
            </a:extLst>
          </p:cNvPr>
          <p:cNvSpPr txBox="1"/>
          <p:nvPr/>
        </p:nvSpPr>
        <p:spPr>
          <a:xfrm>
            <a:off x="4000067" y="6481078"/>
            <a:ext cx="41918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1. </a:t>
            </a:r>
            <a:r>
              <a:rPr lang="ko-KR" altLang="en-US" sz="1600" b="1" dirty="0"/>
              <a:t>인터페이스 및 테스트 코드 먼저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A2D879-70A7-4C41-A11B-42A9E7CCBBA9}"/>
              </a:ext>
            </a:extLst>
          </p:cNvPr>
          <p:cNvSpPr/>
          <p:nvPr/>
        </p:nvSpPr>
        <p:spPr>
          <a:xfrm>
            <a:off x="5598606" y="1748414"/>
            <a:ext cx="994787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3D3963-133F-4DBA-8C99-BC5013E8AD59}"/>
              </a:ext>
            </a:extLst>
          </p:cNvPr>
          <p:cNvSpPr/>
          <p:nvPr/>
        </p:nvSpPr>
        <p:spPr>
          <a:xfrm>
            <a:off x="5598606" y="2874250"/>
            <a:ext cx="994787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5329DB-0EFF-4A63-AC65-4D6882EAFE4C}"/>
              </a:ext>
            </a:extLst>
          </p:cNvPr>
          <p:cNvSpPr/>
          <p:nvPr/>
        </p:nvSpPr>
        <p:spPr>
          <a:xfrm>
            <a:off x="5598605" y="4000086"/>
            <a:ext cx="994787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45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288924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TDD </a:t>
            </a:r>
            <a:r>
              <a:rPr lang="ko-KR" altLang="en-US" dirty="0"/>
              <a:t>활용 예시 </a:t>
            </a:r>
            <a:r>
              <a:rPr lang="en-US" altLang="ko-KR" dirty="0"/>
              <a:t>– ssd.py (3)</a:t>
            </a:r>
            <a:r>
              <a:rPr lang="ko-KR" altLang="en-US" dirty="0"/>
              <a:t> 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61C856-AC3C-47DE-A8AF-6CC34F302B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39" b="2955"/>
          <a:stretch/>
        </p:blipFill>
        <p:spPr>
          <a:xfrm>
            <a:off x="6096000" y="1156443"/>
            <a:ext cx="6023728" cy="487199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21068C0-28EC-4A68-9DF1-ADCAC05BB0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80" r="2167" b="1623"/>
          <a:stretch/>
        </p:blipFill>
        <p:spPr>
          <a:xfrm>
            <a:off x="72272" y="1156443"/>
            <a:ext cx="5932602" cy="4871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7F277F-6FC7-45E1-97E7-78D9DCB83398}"/>
              </a:ext>
            </a:extLst>
          </p:cNvPr>
          <p:cNvSpPr txBox="1"/>
          <p:nvPr/>
        </p:nvSpPr>
        <p:spPr>
          <a:xfrm>
            <a:off x="1257965" y="6076882"/>
            <a:ext cx="3652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테스트를 통과하는 로직 코드 작성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4ECF1-FA4B-4948-B07B-2BDC215377CA}"/>
              </a:ext>
            </a:extLst>
          </p:cNvPr>
          <p:cNvSpPr txBox="1"/>
          <p:nvPr/>
        </p:nvSpPr>
        <p:spPr>
          <a:xfrm>
            <a:off x="6962476" y="6076882"/>
            <a:ext cx="42907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3. </a:t>
            </a:r>
            <a:r>
              <a:rPr lang="ko-KR" altLang="en-US" sz="1600" b="1" dirty="0"/>
              <a:t>테스트 </a:t>
            </a:r>
            <a:r>
              <a:rPr lang="en-US" altLang="ko-KR" sz="1600" b="1" dirty="0"/>
              <a:t>skip </a:t>
            </a:r>
            <a:r>
              <a:rPr lang="ko-KR" altLang="en-US" sz="1600" b="1" dirty="0"/>
              <a:t>해제 후 로직 코드를 테스트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01569C-295E-477E-B8BF-5F6BF257C6FB}"/>
              </a:ext>
            </a:extLst>
          </p:cNvPr>
          <p:cNvSpPr/>
          <p:nvPr/>
        </p:nvSpPr>
        <p:spPr>
          <a:xfrm>
            <a:off x="9107864" y="2502461"/>
            <a:ext cx="994787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20A31D-1C61-4C13-828C-B8191EE96524}"/>
              </a:ext>
            </a:extLst>
          </p:cNvPr>
          <p:cNvSpPr/>
          <p:nvPr/>
        </p:nvSpPr>
        <p:spPr>
          <a:xfrm>
            <a:off x="9107863" y="3592441"/>
            <a:ext cx="994787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A2210B-FFE1-42CD-B6CB-0E3CE67579FD}"/>
              </a:ext>
            </a:extLst>
          </p:cNvPr>
          <p:cNvSpPr/>
          <p:nvPr/>
        </p:nvSpPr>
        <p:spPr>
          <a:xfrm>
            <a:off x="9107862" y="5396830"/>
            <a:ext cx="994787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650B13-8BBF-4C2D-855D-AA5986759AE3}"/>
              </a:ext>
            </a:extLst>
          </p:cNvPr>
          <p:cNvSpPr/>
          <p:nvPr/>
        </p:nvSpPr>
        <p:spPr>
          <a:xfrm>
            <a:off x="9107863" y="4714980"/>
            <a:ext cx="994787" cy="211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3365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Test Double </a:t>
            </a:r>
            <a:r>
              <a:rPr lang="ko-KR" altLang="en-US" dirty="0"/>
              <a:t>활용 예시 </a:t>
            </a:r>
            <a:r>
              <a:rPr lang="en-US" altLang="ko-KR" dirty="0"/>
              <a:t>– ssd.py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E19D02-14AD-48F6-B56D-8382C0597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27" y="1127841"/>
            <a:ext cx="6960055" cy="5494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BB1A65-B932-4A65-9C8F-4975A527E424}"/>
              </a:ext>
            </a:extLst>
          </p:cNvPr>
          <p:cNvSpPr txBox="1"/>
          <p:nvPr/>
        </p:nvSpPr>
        <p:spPr>
          <a:xfrm>
            <a:off x="7432522" y="1382333"/>
            <a:ext cx="401161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전제</a:t>
            </a:r>
            <a:endParaRPr lang="en-US" altLang="ko-KR" sz="1600" b="1" dirty="0"/>
          </a:p>
          <a:p>
            <a:endParaRPr lang="en-US" altLang="ko-KR" sz="1600" b="1" dirty="0"/>
          </a:p>
          <a:p>
            <a:pPr marL="342900" indent="-342900">
              <a:buAutoNum type="arabicPeriod"/>
            </a:pPr>
            <a:r>
              <a:rPr lang="ko-KR" altLang="en-US" sz="1600" dirty="0"/>
              <a:t>한 분이 </a:t>
            </a:r>
            <a:r>
              <a:rPr lang="en-US" altLang="ko-KR" sz="1600" dirty="0"/>
              <a:t>SSD </a:t>
            </a:r>
            <a:r>
              <a:rPr lang="ko-KR" altLang="en-US" sz="1600" dirty="0"/>
              <a:t>모듈의 테스트를 구현</a:t>
            </a:r>
            <a:br>
              <a:rPr lang="en-US" altLang="ko-KR" sz="1600" dirty="0"/>
            </a:b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실제 구현은 다른 분들께서 구현 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b="1" dirty="0"/>
          </a:p>
          <a:p>
            <a:endParaRPr lang="en-US" altLang="ko-KR" sz="1600" b="1" dirty="0"/>
          </a:p>
          <a:p>
            <a:r>
              <a:rPr lang="en-US" altLang="ko-KR" sz="1600" b="1" dirty="0" err="1"/>
              <a:t>TestDouble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활용</a:t>
            </a:r>
            <a:endParaRPr lang="en-US" altLang="ko-KR" sz="1600" b="1" dirty="0"/>
          </a:p>
          <a:p>
            <a:pPr marL="342900" indent="-342900">
              <a:buAutoNum type="arabicPeriod"/>
            </a:pPr>
            <a:endParaRPr lang="en-US" altLang="ko-KR" sz="1600" b="1" dirty="0"/>
          </a:p>
          <a:p>
            <a:pPr marL="342900" indent="-342900">
              <a:buAutoNum type="arabicPeriod"/>
            </a:pPr>
            <a:r>
              <a:rPr lang="ko-KR" altLang="en-US" sz="1600" dirty="0"/>
              <a:t>인터페이스를 먼저 작성</a:t>
            </a:r>
            <a:br>
              <a:rPr lang="en-US" altLang="ko-KR" sz="1600" dirty="0"/>
            </a:b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인터페이스의 예상되는 동작에 따라 테스트 동작 및 </a:t>
            </a:r>
            <a:r>
              <a:rPr lang="en-US" altLang="ko-KR" sz="1600" dirty="0"/>
              <a:t>pass </a:t>
            </a:r>
            <a:r>
              <a:rPr lang="ko-KR" altLang="en-US" sz="1600" dirty="0"/>
              <a:t>확인 위하여 </a:t>
            </a:r>
            <a:r>
              <a:rPr lang="en-US" altLang="ko-KR" sz="1600" dirty="0"/>
              <a:t>Mock </a:t>
            </a:r>
            <a:r>
              <a:rPr lang="ko-KR" altLang="en-US" sz="1600" dirty="0"/>
              <a:t>사용</a:t>
            </a:r>
            <a:br>
              <a:rPr lang="en-US" altLang="ko-KR" sz="1600" dirty="0"/>
            </a:b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모듈 구현이 완료되면 </a:t>
            </a:r>
            <a:r>
              <a:rPr lang="en-US" altLang="ko-KR" sz="1600" dirty="0"/>
              <a:t>Mock</a:t>
            </a:r>
            <a:r>
              <a:rPr lang="ko-KR" altLang="en-US" sz="1600" dirty="0"/>
              <a:t>을 사용하지 않는 테스트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b="1" dirty="0"/>
          </a:p>
          <a:p>
            <a:pPr marL="342900" indent="-342900">
              <a:buAutoNum type="arabicPeriod"/>
            </a:pPr>
            <a:endParaRPr lang="en-US" altLang="ko-KR" sz="1600" b="1" dirty="0"/>
          </a:p>
          <a:p>
            <a:pPr marL="342900" indent="-342900">
              <a:buAutoNum type="arabicPeriod"/>
            </a:pP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06031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구현 소개 </a:t>
            </a:r>
            <a:r>
              <a:rPr lang="en-US" altLang="ko-KR" dirty="0"/>
              <a:t>– shell.py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557E5F-194C-47FE-8B49-DC2A8CCF2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97" y="1095270"/>
            <a:ext cx="7105349" cy="556401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54B0ACD-720B-4E1D-93B6-D04D62F7673F}"/>
              </a:ext>
            </a:extLst>
          </p:cNvPr>
          <p:cNvSpPr/>
          <p:nvPr/>
        </p:nvSpPr>
        <p:spPr>
          <a:xfrm>
            <a:off x="842897" y="3700962"/>
            <a:ext cx="7105349" cy="28468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244166-E87E-4842-BF47-5D0435126766}"/>
              </a:ext>
            </a:extLst>
          </p:cNvPr>
          <p:cNvSpPr/>
          <p:nvPr/>
        </p:nvSpPr>
        <p:spPr>
          <a:xfrm>
            <a:off x="3527482" y="1903982"/>
            <a:ext cx="2049354" cy="1685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D124FE-E3F0-4068-A93B-84743A42D51A}"/>
              </a:ext>
            </a:extLst>
          </p:cNvPr>
          <p:cNvSpPr/>
          <p:nvPr/>
        </p:nvSpPr>
        <p:spPr>
          <a:xfrm>
            <a:off x="5934988" y="959943"/>
            <a:ext cx="2049354" cy="1491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DA335-603A-424E-B706-E748B89C0752}"/>
              </a:ext>
            </a:extLst>
          </p:cNvPr>
          <p:cNvSpPr txBox="1"/>
          <p:nvPr/>
        </p:nvSpPr>
        <p:spPr>
          <a:xfrm>
            <a:off x="8564785" y="2746759"/>
            <a:ext cx="29104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000" dirty="0"/>
              <a:t>Shell Commands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/>
              <a:t>Runner Class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/>
              <a:t>Logger Class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68432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구현 소개 </a:t>
            </a:r>
            <a:r>
              <a:rPr lang="en-US" altLang="ko-KR" dirty="0"/>
              <a:t>– logger.py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993EFA-9402-4DF8-90E3-9A294C156A31}"/>
              </a:ext>
            </a:extLst>
          </p:cNvPr>
          <p:cNvSpPr txBox="1"/>
          <p:nvPr/>
        </p:nvSpPr>
        <p:spPr>
          <a:xfrm>
            <a:off x="353978" y="1098179"/>
            <a:ext cx="1101960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 Logger</a:t>
            </a:r>
            <a:r>
              <a:rPr lang="ko-KR" altLang="en-US" sz="2400" b="1" dirty="0"/>
              <a:t>는 여러 모듈에서 사용되면서 하나의 인스턴스만 존재 </a:t>
            </a:r>
            <a:r>
              <a:rPr lang="en-US" altLang="ko-KR" sz="2400" b="1" dirty="0"/>
              <a:t>: Singleton</a:t>
            </a:r>
          </a:p>
          <a:p>
            <a:endParaRPr lang="en-US" altLang="ko-KR" sz="1800" dirty="0"/>
          </a:p>
          <a:p>
            <a:r>
              <a:rPr lang="en-US" altLang="ko-KR" sz="1800" dirty="0"/>
              <a:t>Default </a:t>
            </a:r>
            <a:r>
              <a:rPr lang="ko-KR" altLang="en-US" sz="1800" dirty="0"/>
              <a:t>설정</a:t>
            </a:r>
            <a:endParaRPr lang="en-US" altLang="ko-KR" sz="1800" dirty="0"/>
          </a:p>
          <a:p>
            <a:pPr marL="342900" lvl="1" indent="-342900">
              <a:buAutoNum type="alphaLcParenR"/>
            </a:pPr>
            <a:r>
              <a:rPr lang="en-US" altLang="ko-KR" sz="1800" dirty="0"/>
              <a:t>Standard output </a:t>
            </a:r>
            <a:r>
              <a:rPr lang="ko-KR" altLang="en-US" sz="1800" dirty="0"/>
              <a:t>출력 </a:t>
            </a:r>
            <a:r>
              <a:rPr lang="en-US" altLang="ko-KR" sz="1800" dirty="0"/>
              <a:t>O</a:t>
            </a:r>
          </a:p>
          <a:p>
            <a:pPr marL="342900" lvl="1" indent="-342900">
              <a:buAutoNum type="alphaLcParenR"/>
            </a:pPr>
            <a:r>
              <a:rPr lang="en-US" altLang="ko-KR" sz="1800" dirty="0"/>
              <a:t>File </a:t>
            </a:r>
            <a:r>
              <a:rPr lang="ko-KR" altLang="en-US" sz="1800" dirty="0"/>
              <a:t>출력 </a:t>
            </a:r>
            <a:r>
              <a:rPr lang="en-US" altLang="ko-KR" sz="1800" dirty="0"/>
              <a:t>O</a:t>
            </a:r>
          </a:p>
          <a:p>
            <a:pPr marL="342900" lvl="1" indent="-342900">
              <a:buAutoNum type="alphaLcParenR"/>
            </a:pPr>
            <a:r>
              <a:rPr lang="ko-KR" altLang="en-US" sz="1800" dirty="0"/>
              <a:t>최대 용량 설정 </a:t>
            </a:r>
            <a:r>
              <a:rPr lang="en-US" altLang="ko-KR" sz="1800" dirty="0"/>
              <a:t>(10240bytes)</a:t>
            </a:r>
          </a:p>
          <a:p>
            <a:pPr marL="342900" indent="-342900">
              <a:buAutoNum type="arabicPeriod"/>
            </a:pPr>
            <a:endParaRPr lang="en-US" altLang="ko-KR" sz="1800" dirty="0"/>
          </a:p>
          <a:p>
            <a:r>
              <a:rPr lang="en-US" altLang="ko-KR" sz="2400" b="1" dirty="0"/>
              <a:t>2. </a:t>
            </a:r>
            <a:r>
              <a:rPr lang="ko-KR" altLang="en-US" sz="2400" b="1" dirty="0"/>
              <a:t>파일 관리 </a:t>
            </a:r>
            <a:endParaRPr lang="en-US" altLang="ko-KR" sz="2400" b="1" dirty="0"/>
          </a:p>
          <a:p>
            <a:r>
              <a:rPr lang="en-US" altLang="ko-KR" sz="1800" dirty="0"/>
              <a:t>a)</a:t>
            </a:r>
            <a:r>
              <a:rPr lang="ko-KR" altLang="en-US" sz="1800" dirty="0"/>
              <a:t> 최대 용량 넘으면 </a:t>
            </a:r>
            <a:r>
              <a:rPr lang="en-US" altLang="ko-KR" sz="1800" dirty="0"/>
              <a:t>log </a:t>
            </a:r>
            <a:r>
              <a:rPr lang="ko-KR" altLang="en-US" sz="1800" dirty="0"/>
              <a:t>파일 생성</a:t>
            </a:r>
            <a:endParaRPr lang="en-US" altLang="ko-KR" sz="1800" dirty="0"/>
          </a:p>
          <a:p>
            <a:r>
              <a:rPr lang="en-US" altLang="ko-KR" sz="1800" dirty="0"/>
              <a:t>a) Until_~_.log </a:t>
            </a:r>
            <a:r>
              <a:rPr lang="ko-KR" altLang="en-US" sz="1800" dirty="0"/>
              <a:t>파일이 </a:t>
            </a:r>
            <a:r>
              <a:rPr lang="en-US" altLang="ko-KR" sz="1800" dirty="0"/>
              <a:t>2</a:t>
            </a:r>
            <a:r>
              <a:rPr lang="ko-KR" altLang="en-US" sz="1800" dirty="0"/>
              <a:t>개이상이면 최신 파일 제외 </a:t>
            </a:r>
            <a:r>
              <a:rPr lang="en-US" altLang="ko-KR" sz="1800" dirty="0"/>
              <a:t>zip </a:t>
            </a:r>
            <a:r>
              <a:rPr lang="ko-KR" altLang="en-US" sz="1800" dirty="0"/>
              <a:t>파일로 변환</a:t>
            </a:r>
            <a:endParaRPr lang="en-US" altLang="ko-KR" sz="1800" dirty="0"/>
          </a:p>
          <a:p>
            <a:pPr marL="342900" indent="-342900">
              <a:buAutoNum type="arabicPeriod"/>
            </a:pPr>
            <a:endParaRPr lang="en-US" altLang="ko-KR" sz="1800" dirty="0"/>
          </a:p>
          <a:p>
            <a:pPr marL="342900" indent="-342900">
              <a:buAutoNum type="arabicPeriod"/>
            </a:pPr>
            <a:endParaRPr lang="en-US" altLang="ko-KR" sz="1800" dirty="0"/>
          </a:p>
          <a:p>
            <a:r>
              <a:rPr lang="en-US" altLang="ko-KR" sz="2400" b="1" dirty="0"/>
              <a:t>3. Runner script</a:t>
            </a:r>
            <a:r>
              <a:rPr lang="ko-KR" altLang="en-US" sz="2400" b="1" dirty="0"/>
              <a:t>의 경우 아래와 같은 설정의 </a:t>
            </a:r>
            <a:r>
              <a:rPr lang="en-US" altLang="ko-KR" sz="2400" b="1" dirty="0"/>
              <a:t>Logger</a:t>
            </a:r>
            <a:r>
              <a:rPr lang="ko-KR" altLang="en-US" sz="2400" b="1" dirty="0"/>
              <a:t>사용</a:t>
            </a:r>
            <a:endParaRPr lang="en-US" altLang="ko-KR" sz="2400" b="1" dirty="0"/>
          </a:p>
          <a:p>
            <a:endParaRPr lang="en-US" altLang="ko-KR" sz="1800" dirty="0"/>
          </a:p>
          <a:p>
            <a:r>
              <a:rPr lang="en-US" altLang="ko-KR" sz="1800" dirty="0"/>
              <a:t>Runner Script </a:t>
            </a:r>
            <a:r>
              <a:rPr lang="ko-KR" altLang="en-US" sz="1800" dirty="0"/>
              <a:t>설정</a:t>
            </a:r>
            <a:endParaRPr lang="en-US" altLang="ko-KR" sz="1800" dirty="0"/>
          </a:p>
          <a:p>
            <a:pPr marL="342900" indent="-342900">
              <a:buAutoNum type="alphaLcParenR"/>
            </a:pPr>
            <a:r>
              <a:rPr lang="en-US" altLang="ko-KR" sz="1800" dirty="0"/>
              <a:t>Standard output </a:t>
            </a:r>
            <a:r>
              <a:rPr lang="ko-KR" altLang="en-US" sz="1800" dirty="0"/>
              <a:t>출력 설정 </a:t>
            </a:r>
            <a:r>
              <a:rPr lang="en-US" altLang="ko-KR" sz="1800" dirty="0"/>
              <a:t>X</a:t>
            </a:r>
          </a:p>
          <a:p>
            <a:pPr marL="342900" indent="-342900">
              <a:buAutoNum type="alphaLcParenR"/>
            </a:pPr>
            <a:r>
              <a:rPr lang="en-US" altLang="ko-KR" sz="1800" dirty="0"/>
              <a:t>File </a:t>
            </a:r>
            <a:r>
              <a:rPr lang="ko-KR" altLang="en-US" sz="1800" dirty="0"/>
              <a:t>출력 </a:t>
            </a:r>
            <a:r>
              <a:rPr lang="en-US" altLang="ko-KR" sz="1800" dirty="0"/>
              <a:t>O</a:t>
            </a:r>
          </a:p>
          <a:p>
            <a:pPr marL="342900" indent="-342900">
              <a:buAutoNum type="alphaLcParenR"/>
            </a:pPr>
            <a:r>
              <a:rPr lang="ko-KR" altLang="en-US" sz="1800" dirty="0" err="1"/>
              <a:t>출력해야하는</a:t>
            </a:r>
            <a:r>
              <a:rPr lang="ko-KR" altLang="en-US" sz="1800" dirty="0"/>
              <a:t> 부분만 </a:t>
            </a:r>
            <a:r>
              <a:rPr lang="en-US" altLang="ko-KR" sz="1800" dirty="0" err="1"/>
              <a:t>print_always</a:t>
            </a:r>
            <a:r>
              <a:rPr lang="en-US" altLang="ko-KR" sz="1800" dirty="0"/>
              <a:t>()</a:t>
            </a:r>
            <a:r>
              <a:rPr lang="ko-KR" altLang="en-US" sz="1800" dirty="0"/>
              <a:t>를 두어 출력 되게 함</a:t>
            </a:r>
            <a:r>
              <a:rPr lang="en-US" altLang="ko-KR" sz="1800" dirty="0"/>
              <a:t>.</a:t>
            </a:r>
          </a:p>
          <a:p>
            <a:pPr marL="342900" indent="-342900">
              <a:buAutoNum type="alphaLcParenR"/>
            </a:pPr>
            <a:endParaRPr lang="en-US" altLang="ko-KR" sz="1800" dirty="0"/>
          </a:p>
          <a:p>
            <a:pPr marL="342900" indent="-342900">
              <a:buAutoNum type="alphaLcParenR"/>
            </a:pPr>
            <a:endParaRPr lang="en-US" altLang="ko-KR" sz="1800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91430E-EAE7-4F6C-A7DF-0534DB70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992" y="5643814"/>
            <a:ext cx="4657725" cy="1104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651160F-9ED2-46B2-99B5-53D8273D22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387"/>
          <a:stretch/>
        </p:blipFill>
        <p:spPr>
          <a:xfrm>
            <a:off x="7444992" y="1581804"/>
            <a:ext cx="4657725" cy="302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27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Test Double </a:t>
            </a:r>
            <a:r>
              <a:rPr lang="ko-KR" altLang="en-US" dirty="0"/>
              <a:t>활용 예시 </a:t>
            </a:r>
            <a:r>
              <a:rPr lang="en-US" altLang="ko-KR" dirty="0"/>
              <a:t>– shell.py (1)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175699"/>
            <a:ext cx="10969721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Ssd.py</a:t>
            </a:r>
            <a:r>
              <a:rPr lang="ko-KR" altLang="en-US" dirty="0"/>
              <a:t>의 동작을 기반으로 동작하기에 </a:t>
            </a:r>
            <a:r>
              <a:rPr lang="en-US" altLang="ko-KR" dirty="0"/>
              <a:t>Test Double </a:t>
            </a:r>
            <a:r>
              <a:rPr lang="ko-KR" altLang="en-US" dirty="0"/>
              <a:t>활용하여 검증</a:t>
            </a: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707241-39DA-49C5-9C65-FAD538F7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12" y="1835556"/>
            <a:ext cx="985837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10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Test Double </a:t>
            </a:r>
            <a:r>
              <a:rPr lang="ko-KR" altLang="en-US" dirty="0"/>
              <a:t>활용 예시 </a:t>
            </a:r>
            <a:r>
              <a:rPr lang="en-US" altLang="ko-KR" dirty="0"/>
              <a:t>– shell.py (1)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175699"/>
            <a:ext cx="10969721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Ssd.py</a:t>
            </a:r>
            <a:r>
              <a:rPr lang="ko-KR" altLang="en-US" dirty="0"/>
              <a:t>의 동작을 기반으로 동작하기에 </a:t>
            </a:r>
            <a:r>
              <a:rPr lang="en-US" altLang="ko-KR" dirty="0"/>
              <a:t>Test Double </a:t>
            </a:r>
            <a:r>
              <a:rPr lang="ko-KR" altLang="en-US" dirty="0"/>
              <a:t>활용하여 검증</a:t>
            </a: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F4A96EE-BADD-4835-980D-9D74A3775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383" y="1676875"/>
            <a:ext cx="53721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Test Double </a:t>
            </a:r>
            <a:r>
              <a:rPr lang="ko-KR" altLang="en-US" dirty="0"/>
              <a:t>활용 예시 </a:t>
            </a:r>
            <a:r>
              <a:rPr lang="en-US" altLang="ko-KR" dirty="0"/>
              <a:t>– shell.py (2)</a:t>
            </a:r>
            <a:endParaRPr dirty="0"/>
          </a:p>
        </p:txBody>
      </p:sp>
      <p:sp>
        <p:nvSpPr>
          <p:cNvPr id="9" name="Google Shape;60;p3">
            <a:extLst>
              <a:ext uri="{FF2B5EF4-FFF2-40B4-BE49-F238E27FC236}">
                <a16:creationId xmlns:a16="http://schemas.microsoft.com/office/drawing/2014/main" id="{B9CD8B58-760B-435F-B584-531B69A904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1644" y="1216466"/>
            <a:ext cx="1136274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Read/write</a:t>
            </a:r>
            <a:r>
              <a:rPr lang="ko-KR" altLang="en-US" dirty="0"/>
              <a:t>와 </a:t>
            </a:r>
            <a:r>
              <a:rPr lang="en-US" altLang="ko-KR" dirty="0" err="1"/>
              <a:t>fullwrite</a:t>
            </a:r>
            <a:r>
              <a:rPr lang="en-US" altLang="ko-KR" dirty="0"/>
              <a:t>/</a:t>
            </a:r>
            <a:r>
              <a:rPr lang="en-US" altLang="ko-KR" dirty="0" err="1"/>
              <a:t>fullread</a:t>
            </a:r>
            <a:r>
              <a:rPr lang="en-US" altLang="ko-KR" dirty="0"/>
              <a:t> </a:t>
            </a:r>
            <a:r>
              <a:rPr lang="ko-KR" altLang="en-US" dirty="0"/>
              <a:t>구현한 사람이 달라</a:t>
            </a:r>
            <a:r>
              <a:rPr lang="en-US" altLang="ko-KR" dirty="0"/>
              <a:t> </a:t>
            </a:r>
            <a:r>
              <a:rPr lang="en-US" altLang="ko-KR" dirty="0" err="1"/>
              <a:t>TestDouble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90764D-E7FE-4FB5-B454-9F83F067A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283" y="2683694"/>
            <a:ext cx="8248993" cy="233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367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Test Double </a:t>
            </a:r>
            <a:r>
              <a:rPr lang="ko-KR" altLang="en-US" dirty="0"/>
              <a:t>활용 예시 </a:t>
            </a:r>
            <a:r>
              <a:rPr lang="en-US" altLang="ko-KR" dirty="0"/>
              <a:t>– shell.py (2)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341644" y="1216466"/>
            <a:ext cx="1136274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Read/write</a:t>
            </a:r>
            <a:r>
              <a:rPr lang="ko-KR" altLang="en-US" dirty="0"/>
              <a:t>와 </a:t>
            </a:r>
            <a:r>
              <a:rPr lang="en-US" altLang="ko-KR" dirty="0" err="1"/>
              <a:t>fullwrite</a:t>
            </a:r>
            <a:r>
              <a:rPr lang="en-US" altLang="ko-KR" dirty="0"/>
              <a:t>/</a:t>
            </a:r>
            <a:r>
              <a:rPr lang="en-US" altLang="ko-KR" dirty="0" err="1"/>
              <a:t>fullread</a:t>
            </a:r>
            <a:r>
              <a:rPr lang="en-US" altLang="ko-KR" dirty="0"/>
              <a:t> </a:t>
            </a:r>
            <a:r>
              <a:rPr lang="ko-KR" altLang="en-US" dirty="0"/>
              <a:t>구현한 사람이 달라</a:t>
            </a:r>
            <a:r>
              <a:rPr lang="en-US" altLang="ko-KR" dirty="0"/>
              <a:t> </a:t>
            </a:r>
            <a:r>
              <a:rPr lang="en-US" altLang="ko-KR" dirty="0" err="1"/>
              <a:t>TestDouble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D43802-B988-4F4E-B327-DE301030E1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8" r="9227"/>
          <a:stretch/>
        </p:blipFill>
        <p:spPr>
          <a:xfrm>
            <a:off x="145972" y="1861491"/>
            <a:ext cx="6129494" cy="34811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1809C7-026C-4F73-8085-9193418241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391"/>
          <a:stretch/>
        </p:blipFill>
        <p:spPr>
          <a:xfrm>
            <a:off x="6368756" y="1861491"/>
            <a:ext cx="5677272" cy="499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78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79" y="310143"/>
            <a:ext cx="11690011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- </a:t>
            </a:r>
            <a:r>
              <a:rPr lang="en-US" dirty="0"/>
              <a:t>Command Buffer refactoring </a:t>
            </a:r>
            <a:r>
              <a:rPr lang="ko-KR" altLang="en-US" dirty="0"/>
              <a:t>전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F0438B-5092-49BA-8876-769DC6DB0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1" y="1184533"/>
            <a:ext cx="4781021" cy="5363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A7A5A8-1725-4BDE-9724-2B38D2646DF1}"/>
              </a:ext>
            </a:extLst>
          </p:cNvPr>
          <p:cNvSpPr txBox="1"/>
          <p:nvPr/>
        </p:nvSpPr>
        <p:spPr>
          <a:xfrm>
            <a:off x="5805521" y="1489435"/>
            <a:ext cx="610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Write command, Erase command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비슷하면서도 상세 내용이 다름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커맨드별 파라미터 파싱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겹치는 </a:t>
            </a:r>
            <a:r>
              <a:rPr lang="en-US" altLang="ko-KR" dirty="0"/>
              <a:t>address </a:t>
            </a:r>
            <a:r>
              <a:rPr lang="ko-KR" altLang="en-US" dirty="0"/>
              <a:t>확인 동작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2. command buffer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loop </a:t>
            </a:r>
            <a:r>
              <a:rPr lang="ko-KR" altLang="en-US" b="1" dirty="0">
                <a:solidFill>
                  <a:srgbClr val="FF0000"/>
                </a:solidFill>
              </a:rPr>
              <a:t>마다 </a:t>
            </a:r>
            <a:r>
              <a:rPr lang="en-US" altLang="ko-KR" b="1" dirty="0">
                <a:solidFill>
                  <a:srgbClr val="FF0000"/>
                </a:solidFill>
              </a:rPr>
              <a:t>command tuple</a:t>
            </a:r>
            <a:r>
              <a:rPr lang="ko-KR" altLang="en-US" b="1" dirty="0">
                <a:solidFill>
                  <a:srgbClr val="FF0000"/>
                </a:solidFill>
              </a:rPr>
              <a:t>을 해석 하는 과정이 필요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각 메서드 마다 </a:t>
            </a:r>
            <a:r>
              <a:rPr lang="en-US" altLang="ko-KR" b="1" dirty="0"/>
              <a:t>1</a:t>
            </a:r>
            <a:r>
              <a:rPr lang="ko-KR" altLang="en-US" b="1" dirty="0"/>
              <a:t>의 과정이 들어가서 코드가 불필요하게 길어지는 문제</a:t>
            </a:r>
            <a:endParaRPr lang="en-US" altLang="ko-KR" b="1" dirty="0"/>
          </a:p>
          <a:p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21075A-16DD-4AE1-8486-54DC1B65AD2E}"/>
              </a:ext>
            </a:extLst>
          </p:cNvPr>
          <p:cNvSpPr/>
          <p:nvPr/>
        </p:nvSpPr>
        <p:spPr>
          <a:xfrm>
            <a:off x="1401502" y="2266094"/>
            <a:ext cx="3711518" cy="469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869816-0C49-4517-A3B0-EF14813C6914}"/>
              </a:ext>
            </a:extLst>
          </p:cNvPr>
          <p:cNvSpPr/>
          <p:nvPr/>
        </p:nvSpPr>
        <p:spPr>
          <a:xfrm>
            <a:off x="1401502" y="3558540"/>
            <a:ext cx="3833438" cy="6324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971611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79" y="310143"/>
            <a:ext cx="11485615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-  </a:t>
            </a:r>
            <a:r>
              <a:rPr lang="en-US" dirty="0"/>
              <a:t>Command Buffer refactoring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74039-85F7-4F48-BC76-11C899A0F56C}"/>
              </a:ext>
            </a:extLst>
          </p:cNvPr>
          <p:cNvSpPr txBox="1"/>
          <p:nvPr/>
        </p:nvSpPr>
        <p:spPr>
          <a:xfrm>
            <a:off x="3133141" y="6085609"/>
            <a:ext cx="4996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CommandBuffer</a:t>
            </a:r>
            <a:r>
              <a:rPr lang="ko-KR" altLang="en-US" dirty="0"/>
              <a:t>에 있는 </a:t>
            </a:r>
            <a:r>
              <a:rPr lang="en-US" altLang="ko-KR" dirty="0"/>
              <a:t>Write, Erase</a:t>
            </a:r>
            <a:r>
              <a:rPr lang="ko-KR" altLang="en-US" dirty="0"/>
              <a:t> 세부 사항을</a:t>
            </a:r>
            <a:endParaRPr lang="en-US" altLang="ko-KR" dirty="0"/>
          </a:p>
          <a:p>
            <a:r>
              <a:rPr lang="en-US" altLang="ko-KR" dirty="0" err="1"/>
              <a:t>Bufferable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로 추출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683E630-09B6-4E04-B01E-88CBB9DAD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1" y="1190232"/>
            <a:ext cx="2332945" cy="508095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CD024C5-EBB4-4224-91D8-35DAF19BC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910" y="1190232"/>
            <a:ext cx="3541568" cy="470188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BF0B22-9FC3-46E1-AEAD-730FE3D81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542" y="1190232"/>
            <a:ext cx="3791277" cy="566776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B73E04D-8D8B-4896-A83F-9F94189E87D7}"/>
              </a:ext>
            </a:extLst>
          </p:cNvPr>
          <p:cNvSpPr/>
          <p:nvPr/>
        </p:nvSpPr>
        <p:spPr>
          <a:xfrm>
            <a:off x="3536910" y="3403178"/>
            <a:ext cx="3541568" cy="469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1A2AE2-38E8-4932-BB15-88AC8244FB21}"/>
              </a:ext>
            </a:extLst>
          </p:cNvPr>
          <p:cNvSpPr/>
          <p:nvPr/>
        </p:nvSpPr>
        <p:spPr>
          <a:xfrm>
            <a:off x="7971396" y="4612218"/>
            <a:ext cx="3541568" cy="469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B09A5FB-FA7D-486E-B611-6C876923F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377" y="1141232"/>
            <a:ext cx="6600687" cy="2676624"/>
          </a:xfrm>
          <a:prstGeom prst="rect">
            <a:avLst/>
          </a:prstGeom>
        </p:spPr>
      </p:pic>
      <p:sp>
        <p:nvSpPr>
          <p:cNvPr id="5" name="Google Shape;59;p3">
            <a:extLst>
              <a:ext uri="{FF2B5EF4-FFF2-40B4-BE49-F238E27FC236}">
                <a16:creationId xmlns:a16="http://schemas.microsoft.com/office/drawing/2014/main" id="{1E8CBDCD-6790-402D-BA77-34C5119DD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979" y="310143"/>
            <a:ext cx="11690011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- </a:t>
            </a:r>
            <a:r>
              <a:rPr lang="en-US" dirty="0"/>
              <a:t>Command Buffer refactoring </a:t>
            </a:r>
            <a:r>
              <a:rPr lang="ko-KR" altLang="en-US" dirty="0"/>
              <a:t>후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C68FFB-002B-457E-8E11-33327F099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75" y="1141232"/>
            <a:ext cx="4335590" cy="4863642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65946D-B01F-4AA7-99DA-CA1795E02696}"/>
              </a:ext>
            </a:extLst>
          </p:cNvPr>
          <p:cNvSpPr txBox="1"/>
          <p:nvPr/>
        </p:nvSpPr>
        <p:spPr>
          <a:xfrm>
            <a:off x="5039360" y="4116330"/>
            <a:ext cx="6980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CommandBuffer</a:t>
            </a:r>
            <a:r>
              <a:rPr lang="ko-KR" altLang="en-US" b="1" dirty="0"/>
              <a:t>에서는 </a:t>
            </a:r>
            <a:r>
              <a:rPr lang="en-US" altLang="ko-KR" b="1" dirty="0"/>
              <a:t>write, erase</a:t>
            </a:r>
            <a:r>
              <a:rPr lang="ko-KR" altLang="en-US" b="1" dirty="0"/>
              <a:t> 구분을 별도로 하지 않고 깔끔하게 처리 가능</a:t>
            </a:r>
            <a:endParaRPr lang="en-US" altLang="ko-KR" b="1" dirty="0"/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C4CFB494-8793-4BAD-9EB7-2504B1F931FC}"/>
              </a:ext>
            </a:extLst>
          </p:cNvPr>
          <p:cNvSpPr/>
          <p:nvPr/>
        </p:nvSpPr>
        <p:spPr>
          <a:xfrm>
            <a:off x="4703975" y="1970202"/>
            <a:ext cx="546755" cy="73529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AE62E3-BE32-4328-A326-54A022ECA321}"/>
              </a:ext>
            </a:extLst>
          </p:cNvPr>
          <p:cNvSpPr/>
          <p:nvPr/>
        </p:nvSpPr>
        <p:spPr>
          <a:xfrm>
            <a:off x="692842" y="1970202"/>
            <a:ext cx="3711518" cy="13368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413E87-4A42-430A-AD89-EFE5664CF47B}"/>
              </a:ext>
            </a:extLst>
          </p:cNvPr>
          <p:cNvSpPr/>
          <p:nvPr/>
        </p:nvSpPr>
        <p:spPr>
          <a:xfrm>
            <a:off x="5988742" y="1657186"/>
            <a:ext cx="3155258" cy="2020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85524D-5C10-4436-BDE8-CDCFEB65EF3A}"/>
              </a:ext>
            </a:extLst>
          </p:cNvPr>
          <p:cNvSpPr/>
          <p:nvPr/>
        </p:nvSpPr>
        <p:spPr>
          <a:xfrm>
            <a:off x="494722" y="3313109"/>
            <a:ext cx="3909638" cy="26765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C0E763-F6BA-42AA-8A56-1C28FB5BA9C8}"/>
              </a:ext>
            </a:extLst>
          </p:cNvPr>
          <p:cNvSpPr/>
          <p:nvPr/>
        </p:nvSpPr>
        <p:spPr>
          <a:xfrm>
            <a:off x="5798242" y="1859281"/>
            <a:ext cx="6035618" cy="1828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589154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9;p3">
            <a:extLst>
              <a:ext uri="{FF2B5EF4-FFF2-40B4-BE49-F238E27FC236}">
                <a16:creationId xmlns:a16="http://schemas.microsoft.com/office/drawing/2014/main" id="{C8E0A234-9C69-4667-8105-A24BCF153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399554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- </a:t>
            </a:r>
            <a:r>
              <a:rPr lang="en-US" dirty="0"/>
              <a:t>Command Buffer </a:t>
            </a:r>
            <a:r>
              <a:rPr lang="en-US" dirty="0" err="1"/>
              <a:t>ignore_erase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8F5762-08AE-45D7-8122-BA009D44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84" y="1165588"/>
            <a:ext cx="2928347" cy="55496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809CA3-B1FB-4ECE-B629-71133388F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331" y="1165588"/>
            <a:ext cx="6336880" cy="3754896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3038B78-6515-4D78-BC26-E75866B055AF}"/>
              </a:ext>
            </a:extLst>
          </p:cNvPr>
          <p:cNvSpPr/>
          <p:nvPr/>
        </p:nvSpPr>
        <p:spPr>
          <a:xfrm>
            <a:off x="4238403" y="2026763"/>
            <a:ext cx="546755" cy="73529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907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9;p3">
            <a:extLst>
              <a:ext uri="{FF2B5EF4-FFF2-40B4-BE49-F238E27FC236}">
                <a16:creationId xmlns:a16="http://schemas.microsoft.com/office/drawing/2014/main" id="{C8E0A234-9C69-4667-8105-A24BCF153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58602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- </a:t>
            </a:r>
            <a:r>
              <a:rPr lang="en-US" dirty="0"/>
              <a:t>Command Buffer </a:t>
            </a:r>
            <a:r>
              <a:rPr lang="en-US" dirty="0" err="1"/>
              <a:t>merge_erase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591E56-222D-4416-953A-0D2CC5D16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07" y="1162363"/>
            <a:ext cx="4360705" cy="55487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1B7B986-C88F-4AB8-86D1-F99E63C71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780" y="1162363"/>
            <a:ext cx="6109447" cy="3932994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A30AE71-3B8E-4576-A8ED-1D419D02CD94}"/>
              </a:ext>
            </a:extLst>
          </p:cNvPr>
          <p:cNvSpPr/>
          <p:nvPr/>
        </p:nvSpPr>
        <p:spPr>
          <a:xfrm>
            <a:off x="5175468" y="2393569"/>
            <a:ext cx="546755" cy="73529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557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9;p3">
            <a:extLst>
              <a:ext uri="{FF2B5EF4-FFF2-40B4-BE49-F238E27FC236}">
                <a16:creationId xmlns:a16="http://schemas.microsoft.com/office/drawing/2014/main" id="{C8E0A234-9C69-4667-8105-A24BCF153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269" y="310143"/>
            <a:ext cx="11851375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- </a:t>
            </a:r>
            <a:r>
              <a:rPr lang="en-US" dirty="0"/>
              <a:t>Command Buffer refactoring </a:t>
            </a:r>
            <a:r>
              <a:rPr lang="ko-KR" altLang="en-US" dirty="0"/>
              <a:t>기타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246132-23FF-49C3-9655-B47A0E2D3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948" y="1114816"/>
            <a:ext cx="3194560" cy="56677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C27966-3B2E-4A42-9AC9-A3DAB4A6E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028" y="1114816"/>
            <a:ext cx="3930359" cy="4959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CC799-C17F-4BFF-A8A6-A5E711631366}"/>
              </a:ext>
            </a:extLst>
          </p:cNvPr>
          <p:cNvSpPr txBox="1"/>
          <p:nvPr/>
        </p:nvSpPr>
        <p:spPr>
          <a:xfrm>
            <a:off x="5862028" y="6240080"/>
            <a:ext cx="3544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command_buffer.py</a:t>
            </a:r>
            <a:r>
              <a:rPr lang="ko-KR" altLang="en-US" b="1" dirty="0"/>
              <a:t> </a:t>
            </a:r>
            <a:r>
              <a:rPr lang="en-US" altLang="ko-KR" b="1" dirty="0"/>
              <a:t>lines</a:t>
            </a:r>
            <a:r>
              <a:rPr lang="ko-KR" altLang="en-US" b="1" dirty="0"/>
              <a:t> 수  </a:t>
            </a:r>
            <a:r>
              <a:rPr lang="en-US" altLang="ko-KR" b="1" dirty="0"/>
              <a:t>231 -&gt; 163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F118D54-38F1-40B9-9F2A-77B0D327618C}"/>
              </a:ext>
            </a:extLst>
          </p:cNvPr>
          <p:cNvSpPr/>
          <p:nvPr/>
        </p:nvSpPr>
        <p:spPr>
          <a:xfrm>
            <a:off x="5175468" y="2393569"/>
            <a:ext cx="546755" cy="73529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155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– ssd.py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CDC5A5-0D31-4034-981C-58CBAC2E21B7}"/>
              </a:ext>
            </a:extLst>
          </p:cNvPr>
          <p:cNvSpPr txBox="1"/>
          <p:nvPr/>
        </p:nvSpPr>
        <p:spPr>
          <a:xfrm>
            <a:off x="605980" y="1105334"/>
            <a:ext cx="119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n-ea"/>
                <a:ea typeface="+mn-ea"/>
              </a:rPr>
              <a:t>AS-IS</a:t>
            </a:r>
            <a:endParaRPr lang="ko-KR" altLang="en-US" sz="2000" b="1" dirty="0"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A438C-0509-40AF-8482-E56B9535086C}"/>
              </a:ext>
            </a:extLst>
          </p:cNvPr>
          <p:cNvSpPr txBox="1"/>
          <p:nvPr/>
        </p:nvSpPr>
        <p:spPr>
          <a:xfrm>
            <a:off x="5562600" y="1105334"/>
            <a:ext cx="219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n-ea"/>
                <a:ea typeface="+mn-ea"/>
              </a:rPr>
              <a:t>TO-BE</a:t>
            </a:r>
            <a:endParaRPr lang="ko-KR" altLang="en-US" sz="2000" b="1" dirty="0">
              <a:latin typeface="+mn-ea"/>
              <a:ea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3221F7-3274-4679-902C-DB02741F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0" y="1734357"/>
            <a:ext cx="2973610" cy="3013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8CD0A7-90CD-4EB9-B4A4-78877838AF75}"/>
              </a:ext>
            </a:extLst>
          </p:cNvPr>
          <p:cNvSpPr txBox="1"/>
          <p:nvPr/>
        </p:nvSpPr>
        <p:spPr>
          <a:xfrm>
            <a:off x="457200" y="4981575"/>
            <a:ext cx="5410200" cy="113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800" spc="-80" dirty="0">
                <a:latin typeface="+mn-ea"/>
                <a:ea typeface="+mn-ea"/>
              </a:rPr>
              <a:t>- </a:t>
            </a:r>
            <a:r>
              <a:rPr lang="ko-KR" altLang="en-US" sz="1800" spc="-80" dirty="0">
                <a:latin typeface="+mn-ea"/>
                <a:ea typeface="+mn-ea"/>
              </a:rPr>
              <a:t>커맨드 추가에 따라 비대해지는 </a:t>
            </a:r>
            <a:r>
              <a:rPr lang="en-US" altLang="ko-KR" sz="1800" spc="-80" dirty="0">
                <a:latin typeface="+mn-ea"/>
                <a:ea typeface="+mn-ea"/>
              </a:rPr>
              <a:t>SSD</a:t>
            </a:r>
          </a:p>
          <a:p>
            <a:pPr>
              <a:lnSpc>
                <a:spcPct val="130000"/>
              </a:lnSpc>
            </a:pPr>
            <a:r>
              <a:rPr lang="en-US" altLang="ko-KR" sz="1800" spc="-80" dirty="0">
                <a:latin typeface="+mn-ea"/>
                <a:ea typeface="+mn-ea"/>
              </a:rPr>
              <a:t>- </a:t>
            </a:r>
            <a:r>
              <a:rPr lang="en-US" altLang="ko-KR" sz="1800" spc="-80" dirty="0" err="1">
                <a:latin typeface="+mn-ea"/>
                <a:ea typeface="+mn-ea"/>
              </a:rPr>
              <a:t>parameter_validation</a:t>
            </a:r>
            <a:r>
              <a:rPr lang="ko-KR" altLang="en-US" sz="1800" spc="-80" dirty="0">
                <a:latin typeface="+mn-ea"/>
                <a:ea typeface="+mn-ea"/>
              </a:rPr>
              <a:t>을 모든 커맨드 공통사용</a:t>
            </a:r>
            <a:endParaRPr lang="en-US" altLang="ko-KR" sz="1800" spc="-80" dirty="0">
              <a:latin typeface="+mn-ea"/>
              <a:ea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800" spc="-80" dirty="0">
                <a:latin typeface="+mn-ea"/>
                <a:ea typeface="+mn-ea"/>
              </a:rPr>
              <a:t>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A5A48F-3ECD-437B-92F0-166167F248F0}"/>
              </a:ext>
            </a:extLst>
          </p:cNvPr>
          <p:cNvSpPr txBox="1"/>
          <p:nvPr/>
        </p:nvSpPr>
        <p:spPr>
          <a:xfrm>
            <a:off x="457199" y="5998841"/>
            <a:ext cx="541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FF0000"/>
                </a:solidFill>
                <a:latin typeface="+mn-ea"/>
                <a:ea typeface="+mn-ea"/>
              </a:rPr>
              <a:t>→ 의존성 높아 커맨드 추가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ea typeface="+mn-ea"/>
              </a:rPr>
              <a:t>변경시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endParaRPr lang="en-US" altLang="ko-KR" sz="18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en-US" altLang="ko-KR" sz="1800" dirty="0">
                <a:solidFill>
                  <a:srgbClr val="FF0000"/>
                </a:solidFill>
                <a:latin typeface="+mn-ea"/>
                <a:ea typeface="+mn-ea"/>
              </a:rPr>
              <a:t>   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ea typeface="+mn-ea"/>
              </a:rPr>
              <a:t>전체 수정필요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1775C82-4237-4AB5-93D0-6EA0D8EE9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208" y="1803235"/>
            <a:ext cx="6622792" cy="27116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30614A5-5337-4992-9BF1-458E362DE180}"/>
              </a:ext>
            </a:extLst>
          </p:cNvPr>
          <p:cNvSpPr txBox="1"/>
          <p:nvPr/>
        </p:nvSpPr>
        <p:spPr>
          <a:xfrm>
            <a:off x="7785229" y="1603180"/>
            <a:ext cx="482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n-ea"/>
                <a:ea typeface="+mn-ea"/>
              </a:rPr>
              <a:t>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0DAD9B-C623-417C-8C5F-D7904CB62952}"/>
              </a:ext>
            </a:extLst>
          </p:cNvPr>
          <p:cNvSpPr txBox="1"/>
          <p:nvPr/>
        </p:nvSpPr>
        <p:spPr>
          <a:xfrm>
            <a:off x="5562600" y="4981575"/>
            <a:ext cx="5410200" cy="113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800" spc="-80" dirty="0">
                <a:latin typeface="+mn-ea"/>
                <a:ea typeface="+mn-ea"/>
              </a:rPr>
              <a:t>- Command </a:t>
            </a:r>
            <a:r>
              <a:rPr lang="ko-KR" altLang="en-US" sz="1800" spc="-80" dirty="0">
                <a:latin typeface="+mn-ea"/>
                <a:ea typeface="+mn-ea"/>
              </a:rPr>
              <a:t>구현을 </a:t>
            </a:r>
            <a:r>
              <a:rPr lang="en-US" altLang="ko-KR" sz="1800" spc="-80" dirty="0">
                <a:latin typeface="+mn-ea"/>
                <a:ea typeface="+mn-ea"/>
              </a:rPr>
              <a:t>SSD</a:t>
            </a:r>
            <a:r>
              <a:rPr lang="ko-KR" altLang="en-US" sz="1800" spc="-80" dirty="0">
                <a:latin typeface="+mn-ea"/>
                <a:ea typeface="+mn-ea"/>
              </a:rPr>
              <a:t>에서 분리</a:t>
            </a:r>
            <a:r>
              <a:rPr lang="en-US" altLang="ko-KR" sz="1800" spc="-80" dirty="0">
                <a:latin typeface="+mn-ea"/>
                <a:ea typeface="+mn-ea"/>
              </a:rPr>
              <a:t>, </a:t>
            </a:r>
            <a:r>
              <a:rPr lang="ko-KR" altLang="en-US" sz="1800" spc="-80" dirty="0">
                <a:latin typeface="+mn-ea"/>
                <a:ea typeface="+mn-ea"/>
              </a:rPr>
              <a:t>의존성↓</a:t>
            </a:r>
            <a:endParaRPr lang="en-US" altLang="ko-KR" sz="1800" spc="-80" dirty="0">
              <a:latin typeface="+mn-ea"/>
              <a:ea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800" spc="-80" dirty="0">
                <a:latin typeface="+mn-ea"/>
                <a:ea typeface="+mn-ea"/>
              </a:rPr>
              <a:t>- Command</a:t>
            </a:r>
            <a:r>
              <a:rPr lang="ko-KR" altLang="en-US" sz="1800" spc="-80" dirty="0">
                <a:latin typeface="+mn-ea"/>
                <a:ea typeface="+mn-ea"/>
              </a:rPr>
              <a:t>별 </a:t>
            </a:r>
            <a:r>
              <a:rPr lang="en-US" altLang="ko-KR" sz="1800" spc="-80" dirty="0">
                <a:latin typeface="+mn-ea"/>
                <a:ea typeface="+mn-ea"/>
              </a:rPr>
              <a:t>parameter validation </a:t>
            </a:r>
            <a:r>
              <a:rPr lang="ko-KR" altLang="en-US" sz="1800" spc="-80" dirty="0">
                <a:latin typeface="+mn-ea"/>
                <a:ea typeface="+mn-ea"/>
              </a:rPr>
              <a:t>별도 수행</a:t>
            </a:r>
            <a:endParaRPr lang="en-US" altLang="ko-KR" sz="1800" spc="-80" dirty="0">
              <a:latin typeface="+mn-ea"/>
              <a:ea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800" spc="-80" dirty="0">
                <a:latin typeface="+mn-ea"/>
                <a:ea typeface="+mn-ea"/>
              </a:rPr>
              <a:t>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7662B1-CD6F-41E7-A590-82AEB4752753}"/>
              </a:ext>
            </a:extLst>
          </p:cNvPr>
          <p:cNvSpPr txBox="1"/>
          <p:nvPr/>
        </p:nvSpPr>
        <p:spPr>
          <a:xfrm>
            <a:off x="5569208" y="5998840"/>
            <a:ext cx="541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0000FF"/>
                </a:solidFill>
                <a:latin typeface="+mn-ea"/>
                <a:ea typeface="+mn-ea"/>
              </a:rPr>
              <a:t>→ 커맨드 추가</a:t>
            </a:r>
            <a:r>
              <a:rPr lang="en-US" altLang="ko-KR" sz="1800" dirty="0">
                <a:solidFill>
                  <a:srgbClr val="0000FF"/>
                </a:solidFill>
                <a:latin typeface="+mn-ea"/>
                <a:ea typeface="+mn-ea"/>
              </a:rPr>
              <a:t>/</a:t>
            </a:r>
            <a:r>
              <a:rPr lang="ko-KR" altLang="en-US" sz="1800" dirty="0">
                <a:solidFill>
                  <a:srgbClr val="0000FF"/>
                </a:solidFill>
                <a:latin typeface="+mn-ea"/>
                <a:ea typeface="+mn-ea"/>
              </a:rPr>
              <a:t>변경해도 </a:t>
            </a:r>
            <a:r>
              <a:rPr lang="en-US" altLang="ko-KR" sz="1800" dirty="0">
                <a:solidFill>
                  <a:srgbClr val="0000FF"/>
                </a:solidFill>
                <a:latin typeface="+mn-ea"/>
                <a:ea typeface="+mn-ea"/>
              </a:rPr>
              <a:t>SSD </a:t>
            </a:r>
            <a:r>
              <a:rPr lang="ko-KR" altLang="en-US" sz="1800" dirty="0">
                <a:solidFill>
                  <a:srgbClr val="0000FF"/>
                </a:solidFill>
                <a:latin typeface="+mn-ea"/>
                <a:ea typeface="+mn-ea"/>
              </a:rPr>
              <a:t>코드</a:t>
            </a:r>
            <a:r>
              <a:rPr lang="en-US" altLang="ko-KR" sz="18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ko-KR" altLang="en-US" sz="1800" dirty="0">
                <a:solidFill>
                  <a:srgbClr val="0000FF"/>
                </a:solidFill>
                <a:latin typeface="+mn-ea"/>
                <a:ea typeface="+mn-ea"/>
              </a:rPr>
              <a:t>및</a:t>
            </a:r>
            <a:r>
              <a:rPr lang="en-US" altLang="ko-KR" sz="18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ko-KR" altLang="en-US" sz="1800" dirty="0">
                <a:solidFill>
                  <a:srgbClr val="0000FF"/>
                </a:solidFill>
                <a:latin typeface="+mn-ea"/>
                <a:ea typeface="+mn-ea"/>
              </a:rPr>
              <a:t>기존 커맨드 </a:t>
            </a:r>
            <a:endParaRPr lang="en-US" altLang="ko-KR" sz="1800" dirty="0">
              <a:solidFill>
                <a:srgbClr val="0000FF"/>
              </a:solidFill>
              <a:latin typeface="+mn-ea"/>
              <a:ea typeface="+mn-ea"/>
            </a:endParaRPr>
          </a:p>
          <a:p>
            <a:r>
              <a:rPr lang="en-US" altLang="ko-KR" sz="1800" dirty="0">
                <a:solidFill>
                  <a:srgbClr val="0000FF"/>
                </a:solidFill>
                <a:latin typeface="+mn-ea"/>
                <a:ea typeface="+mn-ea"/>
              </a:rPr>
              <a:t>    </a:t>
            </a:r>
            <a:r>
              <a:rPr lang="ko-KR" altLang="en-US" sz="1800" dirty="0">
                <a:solidFill>
                  <a:srgbClr val="0000FF"/>
                </a:solidFill>
                <a:latin typeface="+mn-ea"/>
                <a:ea typeface="+mn-ea"/>
              </a:rPr>
              <a:t>수정 필요 없음</a:t>
            </a:r>
            <a:r>
              <a:rPr lang="en-US" altLang="ko-KR" sz="1800" dirty="0">
                <a:solidFill>
                  <a:srgbClr val="0000FF"/>
                </a:solidFill>
                <a:latin typeface="+mn-ea"/>
                <a:ea typeface="+mn-ea"/>
              </a:rPr>
              <a:t>!</a:t>
            </a:r>
            <a:endParaRPr lang="ko-KR" altLang="en-US" sz="1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008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– shell.py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846BA1-7E41-41AE-B802-CEB2C01B4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32" y="1166462"/>
            <a:ext cx="6197165" cy="56915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A90A41-5314-4C61-A00B-76ACF5D31E9D}"/>
              </a:ext>
            </a:extLst>
          </p:cNvPr>
          <p:cNvSpPr/>
          <p:nvPr/>
        </p:nvSpPr>
        <p:spPr>
          <a:xfrm>
            <a:off x="4600280" y="1943707"/>
            <a:ext cx="2337848" cy="437225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B0F27-FABE-4032-B36A-3EDEAE1D4EB3}"/>
              </a:ext>
            </a:extLst>
          </p:cNvPr>
          <p:cNvSpPr txBox="1"/>
          <p:nvPr/>
        </p:nvSpPr>
        <p:spPr>
          <a:xfrm>
            <a:off x="7393825" y="1192804"/>
            <a:ext cx="46794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AS-IS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한 파일에 모든 동작 포함</a:t>
            </a:r>
            <a:r>
              <a:rPr lang="en-US" altLang="ko-KR" sz="2400" dirty="0"/>
              <a:t>.</a:t>
            </a:r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별도 클래스로 분리하지 않음</a:t>
            </a:r>
            <a:r>
              <a:rPr lang="en-US" altLang="ko-KR" sz="2400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C96608-A05B-41DD-AD6E-1AF242C4C1EC}"/>
              </a:ext>
            </a:extLst>
          </p:cNvPr>
          <p:cNvSpPr/>
          <p:nvPr/>
        </p:nvSpPr>
        <p:spPr>
          <a:xfrm>
            <a:off x="1969286" y="1192804"/>
            <a:ext cx="834204" cy="31064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45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 err="1"/>
              <a:t>리팩토링</a:t>
            </a:r>
            <a:r>
              <a:rPr lang="ko-KR" altLang="en-US" dirty="0"/>
              <a:t> 결과 </a:t>
            </a:r>
            <a:r>
              <a:rPr lang="en-US" altLang="ko-KR" dirty="0"/>
              <a:t>– shell.py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B0F27-FABE-4032-B36A-3EDEAE1D4EB3}"/>
              </a:ext>
            </a:extLst>
          </p:cNvPr>
          <p:cNvSpPr txBox="1"/>
          <p:nvPr/>
        </p:nvSpPr>
        <p:spPr>
          <a:xfrm>
            <a:off x="7393825" y="1192804"/>
            <a:ext cx="49391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TO-BE</a:t>
            </a:r>
          </a:p>
          <a:p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b="1" dirty="0" err="1"/>
              <a:t>커맨트</a:t>
            </a:r>
            <a:r>
              <a:rPr lang="ko-KR" altLang="en-US" sz="2400" b="1" dirty="0"/>
              <a:t> 패턴 반영</a:t>
            </a:r>
            <a:br>
              <a:rPr lang="en-US" altLang="ko-KR" sz="2400" dirty="0"/>
            </a:br>
            <a:r>
              <a:rPr lang="en-US" altLang="ko-KR" sz="2400" dirty="0"/>
              <a:t>- </a:t>
            </a:r>
            <a:r>
              <a:rPr lang="ko-KR" altLang="en-US" sz="2400" dirty="0"/>
              <a:t>공통 </a:t>
            </a:r>
            <a:r>
              <a:rPr lang="en-US" altLang="ko-KR" sz="2400" dirty="0"/>
              <a:t>Command Interface </a:t>
            </a:r>
            <a:r>
              <a:rPr lang="ko-KR" altLang="en-US" sz="2400" dirty="0"/>
              <a:t>사용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b="1" dirty="0"/>
              <a:t>커맨드 별 클래스 구현</a:t>
            </a:r>
            <a:endParaRPr lang="en-US" altLang="ko-KR" sz="2400" b="1" dirty="0"/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BA585E-08D1-487D-9F42-454270D92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3" y="1063071"/>
            <a:ext cx="7222822" cy="548478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AC96608-A05B-41DD-AD6E-1AF242C4C1EC}"/>
              </a:ext>
            </a:extLst>
          </p:cNvPr>
          <p:cNvSpPr/>
          <p:nvPr/>
        </p:nvSpPr>
        <p:spPr>
          <a:xfrm>
            <a:off x="339601" y="1354472"/>
            <a:ext cx="2337847" cy="360941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A90A41-5314-4C61-A00B-76ACF5D31E9D}"/>
              </a:ext>
            </a:extLst>
          </p:cNvPr>
          <p:cNvSpPr/>
          <p:nvPr/>
        </p:nvSpPr>
        <p:spPr>
          <a:xfrm>
            <a:off x="3444719" y="2385836"/>
            <a:ext cx="3949106" cy="416202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168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78A2B-5502-48E7-AEBD-176344A2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리뷰 및 </a:t>
            </a:r>
            <a:r>
              <a:rPr lang="en-US" altLang="ko-KR" dirty="0"/>
              <a:t>PR </a:t>
            </a:r>
            <a:r>
              <a:rPr lang="ko-KR" altLang="en-US" dirty="0"/>
              <a:t>일관성을 위한 템플릿 </a:t>
            </a:r>
            <a:r>
              <a:rPr lang="en-US" altLang="ko-KR" dirty="0"/>
              <a:t>- 1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1D827E-9152-452E-8CDD-6D70DA1F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7" y="1997676"/>
            <a:ext cx="5813674" cy="33706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84CD45-FC04-41CA-9AE5-EEEDD8A2D1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54" b="25702"/>
          <a:stretch/>
        </p:blipFill>
        <p:spPr>
          <a:xfrm>
            <a:off x="5964023" y="1997675"/>
            <a:ext cx="6149590" cy="3370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6B20D1-95B2-42B7-ACDF-85A361D04BF9}"/>
              </a:ext>
            </a:extLst>
          </p:cNvPr>
          <p:cNvSpPr txBox="1"/>
          <p:nvPr/>
        </p:nvSpPr>
        <p:spPr>
          <a:xfrm>
            <a:off x="1396721" y="5517189"/>
            <a:ext cx="3493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PR </a:t>
            </a:r>
            <a:r>
              <a:rPr lang="ko-KR" altLang="en-US" b="1" dirty="0"/>
              <a:t>및 </a:t>
            </a:r>
            <a:r>
              <a:rPr lang="ko-KR" altLang="en-US" b="1" dirty="0" err="1"/>
              <a:t>커밋</a:t>
            </a:r>
            <a:r>
              <a:rPr lang="ko-KR" altLang="en-US" b="1" dirty="0"/>
              <a:t> 일관성을 위한 </a:t>
            </a:r>
            <a:r>
              <a:rPr lang="en-US" altLang="ko-KR" b="1" dirty="0"/>
              <a:t>Template </a:t>
            </a:r>
            <a:r>
              <a:rPr lang="ko-KR" altLang="en-US" b="1" dirty="0"/>
              <a:t>활용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80A22-57A3-462A-926C-43CA0A8DEB80}"/>
              </a:ext>
            </a:extLst>
          </p:cNvPr>
          <p:cNvSpPr txBox="1"/>
          <p:nvPr/>
        </p:nvSpPr>
        <p:spPr>
          <a:xfrm>
            <a:off x="8412685" y="5420512"/>
            <a:ext cx="1252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실제 </a:t>
            </a:r>
            <a:r>
              <a:rPr lang="en-US" altLang="ko-KR" b="1" dirty="0"/>
              <a:t>PR </a:t>
            </a:r>
            <a:r>
              <a:rPr lang="ko-KR" altLang="en-US" b="1" dirty="0"/>
              <a:t>화면</a:t>
            </a:r>
          </a:p>
        </p:txBody>
      </p:sp>
    </p:spTree>
    <p:extLst>
      <p:ext uri="{BB962C8B-B14F-4D97-AF65-F5344CB8AC3E}">
        <p14:creationId xmlns:p14="http://schemas.microsoft.com/office/powerpoint/2010/main" val="1396718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78A2B-5502-48E7-AEBD-176344A2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리뷰 및 </a:t>
            </a:r>
            <a:r>
              <a:rPr lang="en-US" altLang="ko-KR" dirty="0"/>
              <a:t>PR </a:t>
            </a:r>
            <a:r>
              <a:rPr lang="ko-KR" altLang="en-US" dirty="0"/>
              <a:t>일관성을 위한 템플릿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48AF3E-78A0-41C9-A9FA-FFFD1EA30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80" y="1194184"/>
            <a:ext cx="5276850" cy="15716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B0B8AA-5C39-4F7F-B900-72B42B4B7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172" y="1194184"/>
            <a:ext cx="491490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8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78A2B-5502-48E7-AEBD-176344A2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리뷰 및 </a:t>
            </a:r>
            <a:r>
              <a:rPr lang="en-US" altLang="ko-KR" dirty="0"/>
              <a:t>PR </a:t>
            </a:r>
            <a:r>
              <a:rPr lang="ko-KR" altLang="en-US" dirty="0"/>
              <a:t>일관성을 위한 템플릿 </a:t>
            </a:r>
            <a:r>
              <a:rPr lang="en-US" altLang="ko-KR" dirty="0"/>
              <a:t>- 3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DD1E99-4EBF-4256-AE2C-39FCFFB0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57" y="1263841"/>
            <a:ext cx="3457575" cy="36671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3D010E-9FC0-49FA-8D56-A53E92B92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060" y="1263841"/>
            <a:ext cx="75438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78A2B-5502-48E7-AEBD-176344A2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리뷰 및 </a:t>
            </a:r>
            <a:r>
              <a:rPr lang="en-US" altLang="ko-KR" dirty="0"/>
              <a:t>PR </a:t>
            </a:r>
            <a:r>
              <a:rPr lang="ko-KR" altLang="en-US" dirty="0"/>
              <a:t>일관성을 위한 템플릿 </a:t>
            </a:r>
            <a:r>
              <a:rPr lang="en-US" altLang="ko-KR" dirty="0"/>
              <a:t>- 4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32E071-7C60-455F-BD60-C013A0A2F7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03"/>
          <a:stretch/>
        </p:blipFill>
        <p:spPr>
          <a:xfrm>
            <a:off x="0" y="1075173"/>
            <a:ext cx="6096000" cy="52879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51936C1-12F2-4581-9D9E-1D739D9D5A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522"/>
          <a:stretch/>
        </p:blipFill>
        <p:spPr>
          <a:xfrm>
            <a:off x="6095999" y="1075173"/>
            <a:ext cx="6096000" cy="578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38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9D235-7E1A-449D-91E0-9F405EAD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매직 넘버 사용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D7A0FB-3D4B-44B9-A13A-DBA4621DB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32" y="1400174"/>
            <a:ext cx="5187836" cy="46138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3562D10-087B-40BA-B515-E8A91FF86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045" y="2843734"/>
            <a:ext cx="6160687" cy="117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14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소감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351980" y="1052215"/>
            <a:ext cx="11626660" cy="5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altLang="ko-KR" sz="1400" b="1" dirty="0"/>
              <a:t>1.</a:t>
            </a:r>
            <a:r>
              <a:rPr lang="ko-KR" altLang="en-US" sz="1400" b="1" dirty="0"/>
              <a:t> 테스트 기반 개발</a:t>
            </a:r>
            <a:r>
              <a:rPr lang="en-US" altLang="ko-KR" sz="1400" b="1" dirty="0"/>
              <a:t>(TDD) </a:t>
            </a:r>
            <a:r>
              <a:rPr lang="ko-KR" altLang="en-US" sz="1400" b="1" dirty="0"/>
              <a:t>및 </a:t>
            </a:r>
            <a:r>
              <a:rPr lang="ko-KR" altLang="en-US" sz="1400" b="1" dirty="0" err="1"/>
              <a:t>리팩토링</a:t>
            </a:r>
            <a:endParaRPr lang="ko-KR" alt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기존 코드에 손대기 어려웠던 경험이 많았으나</a:t>
            </a:r>
            <a:r>
              <a:rPr lang="en-US" altLang="ko-KR" sz="1400" dirty="0"/>
              <a:t>, </a:t>
            </a:r>
            <a:r>
              <a:rPr lang="ko-KR" altLang="en-US" sz="1400" dirty="0"/>
              <a:t>테스트를 기반으로 안전하게 코드를 수정하는 방법을 터득함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Mock</a:t>
            </a:r>
            <a:r>
              <a:rPr lang="ko-KR" altLang="en-US" sz="1400" dirty="0"/>
              <a:t>을 활용해 테스트 의존도를 낮추고 빠르게 개발할 수 있었음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테스트는 단순한 </a:t>
            </a:r>
            <a:r>
              <a:rPr lang="en-US" altLang="ko-KR" sz="1400" dirty="0"/>
              <a:t>QA</a:t>
            </a:r>
            <a:r>
              <a:rPr lang="ko-KR" altLang="en-US" sz="1400" dirty="0"/>
              <a:t>가 아니라 개발의 핵심 축이라는 것을 실감함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TDD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리팩토링의</a:t>
            </a:r>
            <a:r>
              <a:rPr lang="ko-KR" altLang="en-US" sz="1400" dirty="0"/>
              <a:t> 실제 적용 과정을 통해 다양한 문제 상황을 경험하고 해결함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br>
              <a:rPr lang="en-US" altLang="ko-KR" sz="1400" b="1" dirty="0"/>
            </a:br>
            <a:r>
              <a:rPr lang="en-US" altLang="ko-KR" sz="1400" b="1" dirty="0"/>
              <a:t>2. </a:t>
            </a:r>
            <a:r>
              <a:rPr lang="ko-KR" altLang="en-US" sz="1400" b="1" dirty="0"/>
              <a:t>협업과 코드 리뷰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dirty="0"/>
              <a:t>Git </a:t>
            </a:r>
            <a:r>
              <a:rPr lang="ko-KR" altLang="en-US" sz="1400" dirty="0"/>
              <a:t>기반 버전 관리와 코드 리뷰를 통해 사소한 오타부터 논리 오류까지 조기에 발견할 수 있었음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코드 스타일과 구조에 대해 의견을 주고받으며 전체적인 코드 품질이 향상됨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형식적인 리뷰가 아니라 실제 문제를 지적하고 개선하는 코드 리뷰의 중요성을 체감함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endParaRPr lang="en-US" altLang="ko-KR" sz="1400" b="1" dirty="0"/>
          </a:p>
          <a:p>
            <a:pPr marL="114300" indent="0">
              <a:buNone/>
            </a:pPr>
            <a:r>
              <a:rPr lang="en-US" altLang="ko-KR" sz="1400" b="1" dirty="0"/>
              <a:t>3. </a:t>
            </a:r>
            <a:r>
              <a:rPr lang="ko-KR" altLang="en-US" sz="1400" b="1" dirty="0"/>
              <a:t>프로젝트 설계와 초기 구조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프로젝트 초반에는 설계와 스켈레톤 코드 작성을 한 명이 주도하는 것이 오히려 효율적일 수 있다는 인사이트를 얻음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후반부로 갈수록 협업 속도와 효율이 개선됨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endParaRPr lang="en-US" altLang="ko-KR" sz="1400" b="1" dirty="0"/>
          </a:p>
          <a:p>
            <a:pPr marL="114300" indent="0">
              <a:buNone/>
            </a:pPr>
            <a:r>
              <a:rPr lang="en-US" altLang="ko-KR" sz="1400" b="1" dirty="0"/>
              <a:t>4. </a:t>
            </a:r>
            <a:r>
              <a:rPr lang="ko-KR" altLang="en-US" sz="1400" b="1" dirty="0"/>
              <a:t>전반적인 소감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단순한 과제 수행을 넘어</a:t>
            </a:r>
            <a:r>
              <a:rPr lang="en-US" altLang="ko-KR" sz="1400" dirty="0"/>
              <a:t>, </a:t>
            </a:r>
            <a:r>
              <a:rPr lang="ko-KR" altLang="en-US" sz="1400" dirty="0"/>
              <a:t>협업을 기반으로 한 시스템적 개발 경험을 쌓을 수 있었음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dirty="0"/>
              <a:t>팀원 간 역할 분담</a:t>
            </a:r>
            <a:r>
              <a:rPr lang="en-US" altLang="ko-KR" sz="1400" dirty="0"/>
              <a:t>, </a:t>
            </a:r>
            <a:r>
              <a:rPr lang="ko-KR" altLang="en-US" sz="1400" dirty="0"/>
              <a:t>코드 품질 개선</a:t>
            </a:r>
            <a:r>
              <a:rPr lang="en-US" altLang="ko-KR" sz="1400" dirty="0"/>
              <a:t>, </a:t>
            </a:r>
            <a:r>
              <a:rPr lang="ko-KR" altLang="en-US" sz="1400" dirty="0"/>
              <a:t>문제 해결 등 실제 개발 현장을 유사하게 경험한 의미 있는 시간이었다고 평가됨</a:t>
            </a:r>
            <a:r>
              <a:rPr lang="en-US" altLang="ko-KR" sz="1400" dirty="0"/>
              <a:t>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49874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데모 시나리오 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Script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ko-KR" dirty="0"/>
              <a:t>Runner Script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altLang="ko-KR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altLang="ko-KR" dirty="0"/>
              <a:t>Buffer </a:t>
            </a:r>
            <a:r>
              <a:rPr lang="ko-KR" altLang="en-US" dirty="0"/>
              <a:t>최적화 실행</a:t>
            </a:r>
          </a:p>
        </p:txBody>
      </p:sp>
    </p:spTree>
    <p:extLst>
      <p:ext uri="{BB962C8B-B14F-4D97-AF65-F5344CB8AC3E}">
        <p14:creationId xmlns:p14="http://schemas.microsoft.com/office/powerpoint/2010/main" val="3354611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4526B-D552-4FDA-B441-EEB1A6DBC9C3}"/>
              </a:ext>
            </a:extLst>
          </p:cNvPr>
          <p:cNvSpPr txBox="1"/>
          <p:nvPr/>
        </p:nvSpPr>
        <p:spPr>
          <a:xfrm>
            <a:off x="4080063" y="2921168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dirty="0"/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1557</Words>
  <Application>Microsoft Office PowerPoint</Application>
  <PresentationFormat>와이드스크린</PresentationFormat>
  <Paragraphs>363</Paragraphs>
  <Slides>34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gg sans</vt:lpstr>
      <vt:lpstr>inherit</vt:lpstr>
      <vt:lpstr>맑은 고딕</vt:lpstr>
      <vt:lpstr>맑은 고딕</vt:lpstr>
      <vt:lpstr>Arial</vt:lpstr>
      <vt:lpstr>Office 테마</vt:lpstr>
      <vt:lpstr>PowerPoint 프레젠테이션</vt:lpstr>
      <vt:lpstr>조원 소개 및 역할 – ssd.py</vt:lpstr>
      <vt:lpstr>조원 소개 및 역할 – shell.py</vt:lpstr>
      <vt:lpstr>기능 구현 소개 – ssd.py (1)</vt:lpstr>
      <vt:lpstr>기능 구현 소개 - Command Buffer Algorithm (1)</vt:lpstr>
      <vt:lpstr>기능 구현 소개 - Command Buffer Algorithm (2)</vt:lpstr>
      <vt:lpstr>기능 구현 소개 - Command Buffer Algorithm (3)</vt:lpstr>
      <vt:lpstr>TDD 활용 예시 – ssd.py (1) </vt:lpstr>
      <vt:lpstr>TDD 활용 예시 – ssd.py (2) </vt:lpstr>
      <vt:lpstr>TDD 활용 예시 – ssd.py (3) </vt:lpstr>
      <vt:lpstr>Test Double 활용 예시 – ssd.py</vt:lpstr>
      <vt:lpstr>기능 구현 소개 – shell.py</vt:lpstr>
      <vt:lpstr>기능 구현 소개 – logger.py</vt:lpstr>
      <vt:lpstr>Test Double 활용 예시 – shell.py (1)</vt:lpstr>
      <vt:lpstr>Test Double 활용 예시 – shell.py (1)</vt:lpstr>
      <vt:lpstr>Test Double 활용 예시 – shell.py (2)</vt:lpstr>
      <vt:lpstr>Test Double 활용 예시 – shell.py (2)</vt:lpstr>
      <vt:lpstr>리팩토링 결과 - Command Buffer refactoring 전</vt:lpstr>
      <vt:lpstr>리팩토링 결과 -  Command Buffer refactoring</vt:lpstr>
      <vt:lpstr>리팩토링 결과 - Command Buffer refactoring 후</vt:lpstr>
      <vt:lpstr>리팩토링 결과 - Command Buffer ignore_erase</vt:lpstr>
      <vt:lpstr>리팩토링 결과 - Command Buffer merge_erase</vt:lpstr>
      <vt:lpstr>리팩토링 결과 - Command Buffer refactoring 기타</vt:lpstr>
      <vt:lpstr>리팩토링 결과 – ssd.py</vt:lpstr>
      <vt:lpstr>리팩토링 결과 – shell.py</vt:lpstr>
      <vt:lpstr>리팩토링 결과 – shell.py</vt:lpstr>
      <vt:lpstr>리뷰 및 PR 일관성을 위한 템플릿 - 1</vt:lpstr>
      <vt:lpstr>리뷰 및 PR 일관성을 위한 템플릿 - 2</vt:lpstr>
      <vt:lpstr>리뷰 및 PR 일관성을 위한 템플릿 - 3</vt:lpstr>
      <vt:lpstr>리뷰 및 PR 일관성을 위한 템플릿 - 4</vt:lpstr>
      <vt:lpstr>매직 넘버 사용</vt:lpstr>
      <vt:lpstr>소감</vt:lpstr>
      <vt:lpstr>데모 시나리오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linejin1313@gmail.com</dc:creator>
  <cp:lastModifiedBy>Jaewoong Lee</cp:lastModifiedBy>
  <cp:revision>241</cp:revision>
  <dcterms:created xsi:type="dcterms:W3CDTF">2024-04-15T01:50:35Z</dcterms:created>
  <dcterms:modified xsi:type="dcterms:W3CDTF">2025-06-24T03:36:15Z</dcterms:modified>
</cp:coreProperties>
</file>